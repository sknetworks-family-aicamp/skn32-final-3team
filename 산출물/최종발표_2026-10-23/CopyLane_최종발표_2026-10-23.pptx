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6"/>
  </p:notesMasterIdLst>
  <p:sldIdLst>
    <p:sldId id="285" r:id="rId5"/>
    <p:sldId id="286" r:id="rId6"/>
    <p:sldId id="287" r:id="rId7"/>
    <p:sldId id="317" r:id="rId8"/>
    <p:sldId id="288" r:id="rId9"/>
    <p:sldId id="282" r:id="rId10"/>
    <p:sldId id="260" r:id="rId11"/>
    <p:sldId id="334" r:id="rId61"/>
    <p:sldId id="316" r:id="rId13"/>
    <p:sldId id="290" r:id="rId15"/>
    <p:sldId id="291" r:id="rId16"/>
    <p:sldId id="289" r:id="rId14"/>
    <p:sldId id="293" r:id="rId18"/>
    <p:sldId id="294" r:id="rId19"/>
    <p:sldId id="335" r:id="rId62"/>
    <p:sldId id="295" r:id="rId23"/>
    <p:sldId id="296" r:id="rId24"/>
    <p:sldId id="336" r:id="rId63"/>
    <p:sldId id="337" r:id="rId64"/>
    <p:sldId id="292" r:id="rId17"/>
    <p:sldId id="297" r:id="rId28"/>
    <p:sldId id="298" r:id="rId29"/>
    <p:sldId id="338" r:id="rId65"/>
    <p:sldId id="345" r:id="rId72"/>
    <p:sldId id="300" r:id="rId31"/>
    <p:sldId id="301" r:id="rId32"/>
    <p:sldId id="339" r:id="rId66"/>
    <p:sldId id="302" r:id="rId34"/>
    <p:sldId id="343" r:id="rId70"/>
    <p:sldId id="303" r:id="rId36"/>
    <p:sldId id="304" r:id="rId37"/>
    <p:sldId id="306" r:id="rId39"/>
    <p:sldId id="307" r:id="rId40"/>
    <p:sldId id="340" r:id="rId67"/>
    <p:sldId id="309" r:id="rId45"/>
    <p:sldId id="310" r:id="rId46"/>
    <p:sldId id="311" r:id="rId47"/>
    <p:sldId id="313" r:id="rId52"/>
    <p:sldId id="314" r:id="rId49"/>
    <p:sldId id="315" r:id="rId50"/>
    <p:sldId id="318" r:id="rId51"/>
    <p:sldId id="341" r:id="rId68"/>
    <p:sldId id="342" r:id="rId69"/>
    <p:sldId id="320" r:id="rId54"/>
    <p:sldId id="321" r:id="rId55"/>
    <p:sldId id="344" r:id="rId71"/>
    <p:sldId id="299" r:id="rId30"/>
    <p:sldId id="308" r:id="rId44"/>
    <p:sldId id="31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5CA"/>
    <a:srgbClr val="2A0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2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0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47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4" Type="http://schemas.openxmlformats.org/officeDocument/2006/relationships/slide" Target="slides/slide48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49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38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openxmlformats.org/officeDocument/2006/relationships/slide" Target="slides/slide8.xml"/><Relationship Id="rId62" Type="http://schemas.openxmlformats.org/officeDocument/2006/relationships/slide" Target="slides/slide15.xml"/><Relationship Id="rId63" Type="http://schemas.openxmlformats.org/officeDocument/2006/relationships/slide" Target="slides/slide18.xml"/><Relationship Id="rId64" Type="http://schemas.openxmlformats.org/officeDocument/2006/relationships/slide" Target="slides/slide19.xml"/><Relationship Id="rId65" Type="http://schemas.openxmlformats.org/officeDocument/2006/relationships/slide" Target="slides/slide23.xml"/><Relationship Id="rId66" Type="http://schemas.openxmlformats.org/officeDocument/2006/relationships/slide" Target="slides/slide27.xml"/><Relationship Id="rId67" Type="http://schemas.openxmlformats.org/officeDocument/2006/relationships/slide" Target="slides/slide34.xml"/><Relationship Id="rId68" Type="http://schemas.openxmlformats.org/officeDocument/2006/relationships/slide" Target="slides/slide42.xml"/><Relationship Id="rId69" Type="http://schemas.openxmlformats.org/officeDocument/2006/relationships/slide" Target="slides/slide43.xml"/><Relationship Id="rId70" Type="http://schemas.openxmlformats.org/officeDocument/2006/relationships/slide" Target="slides/slide29.xml"/><Relationship Id="rId71" Type="http://schemas.openxmlformats.org/officeDocument/2006/relationships/slide" Target="slides/slide46.xml"/><Relationship Id="rId72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08253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표지. 한 줄 — 「광고 한 줄이 나가기 전, 근거와 함께 먼저 검수합니다」.</a:t>
            </a:r>
          </a:p>
          <a:p>
            <a:r>
              <a:t>발표자 줄은 실제 발표자에 맞게 고쳐 주세요.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목차 — 문제 · 시장은 짧게, 무엇을 만들었고 어떻게 믿게 만들었는지에 시간을 씁니다. 뒤에 부록(한 문장 판정 기록 · 학습 데이터 · 프롬프트 · 트러블슈팅)이 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팀원 분담입니다(README 「팀 한끗」과 같습니다).</a:t>
            </a:r>
          </a:p>
          <a:p>
            <a:r>
              <a:t>오한빈(팀장) — 데이터 수집 · 판정 코어와 그래프 · 데이터 파이프라인 · DB 설계 · 거버넌스 게이트 · 평가 · 런처와 공유 저장소 같은 협업 환경 · 운영 · CI · 보안 · 문서 · 통합.</a:t>
            </a:r>
          </a:p>
          <a:p>
            <a:r>
              <a:t>권소라 — 사용자 화면 · 카피 생성 엔진 · 데이터 수집 · 서비스 테스트 · 도메인 제안.</a:t>
            </a:r>
          </a:p>
          <a:p>
            <a:r>
              <a:t>이서은 — 사용자 화면 · 대체 문구 생성(고쳐 쓰기) · 자체 sLLM 파인튜닝.</a:t>
            </a:r>
          </a:p>
          <a:p>
            <a:r>
              <a:t>소성민 — 관리자 화면 · 배포 · 리소스 관리(주담당) · 판정 인코더 파인튜닝.</a:t>
            </a:r>
          </a:p>
          <a:p>
            <a:r>
              <a:t>박수진 — 관리자 화면 · 사용자 화면 · 판정 인코더 파인튜닝(채택 판 D4-20).</a:t>
            </a:r>
          </a:p>
        </p:txBody>
      </p:sp>
    </p:spTree>
    <p:extLst>
      <p:ext uri="{BB962C8B-B14F-4D97-AF65-F5344CB8AC3E}">
        <p14:creationId xmlns:p14="http://schemas.microsoft.com/office/powerpoint/2010/main" val="360679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중간 발표 때 자세히 다룬 문제라 20초 안에 넘어갑니다.</a:t>
            </a:r>
          </a:p>
          <a:p>
            <a:r>
              <a:t>예시 세 문장은 우리 판정 코어에 실제로 넣은 결과입니다 — 고혈압 예방(식품) = 질병 예방 · 치료 표방 확정 R2 · 국내 판매 1위 = 근거 자료가 필요해 사실 확인 질문 · 아토피 치료 로션(화장품) = 의약품 오인 확정 R2. 첫 문장은 시연 영상과 부록 「한 문장이 판정되기까지」에 다시 나옵니다.</a:t>
            </a:r>
          </a:p>
          <a:p>
            <a:r>
              <a:t>「광고 한 줄이 위법인지는 조문을 찾아봐야 알고, 현장에는 그걸 할 사람이 없다 — 그래서 올리기 전에 근거와 함께 검수하는 도구를 만들었다.」</a:t>
            </a:r>
          </a:p>
        </p:txBody>
      </p:sp>
    </p:spTree>
    <p:extLst>
      <p:ext uri="{BB962C8B-B14F-4D97-AF65-F5344CB8AC3E}">
        <p14:creationId xmlns:p14="http://schemas.microsoft.com/office/powerpoint/2010/main" val="337336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중간 발표에서 보여 드린 경쟁 실측을 한 장으로 합쳤습니다.</a:t>
            </a:r>
          </a:p>
          <a:p>
            <a:r>
              <a:t>왼쪽 — 경쟁 도구는 「최고」라는 낱말만 잡고 「우수한」으로 바꾸라고 합니다. 「위암 치료」는 통과입니다. 가장 무거운 위반을 놓치고 가벼운 표현만 잡는 위험도 역전입니다.</a:t>
            </a:r>
          </a:p>
          <a:p>
            <a:r>
              <a:t>오른쪽 — CopyLane 은 같은 문구를 사용 불가 · 질병 예방치료 표방으로 잡고, 근거 조문(식품표시광고법 제8조제1항제1호)과 위험도 R2 를 함께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한 줄이 판정되는 길입니다.</a:t>
            </a:r>
          </a:p>
          <a:p>
            <a:r>
              <a:t>1 읽기 — 문장을 나누고, 품목에 맞는 법을 고르고, 조문을 어휘 + 벡터로 찾습니다.</a:t>
            </a:r>
          </a:p>
          <a:p>
            <a:r>
              <a:t>2 잡기 — 판단 주체가 둘입니다. 금지 표현 사전(4,342)은 쓰는 것만으로 위반인 표현을 확정하고, 판정 인코더는 사전이 놓친 유형을 찾습니다.</a:t>
            </a:r>
          </a:p>
          <a:p>
            <a:r>
              <a:t>3 법별 판정 — 표시광고법 · 식품표시광고법 · 화장품법을 병렬로 따로 판정합니다.</a:t>
            </a:r>
          </a:p>
          <a:p>
            <a:r>
              <a:t>4 묻기 — 품목 · 인정 여부 · 실증 자료처럼 문구 밖의 사실은 질문으로 받고, 답하면 다시 판정합니다.</a:t>
            </a:r>
          </a:p>
          <a:p>
            <a:r>
              <a:t>결론은 넷 — 보류 · 합법화 불가 증명서 · 지시와 고쳐 쓰기 · 통과. 통과는 모든 문장이 확정이고 위험도 R0 일 때뿐입니다.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시연 영상(4분 49초 · 한국어 더빙 + 자막)이 이 장에 들어 있습니다. 슬라이드쇼에서 영상을 클릭하면 재생돼요.</a:t>
            </a:r>
          </a:p>
          <a:p>
            <a:r>
              <a:t>영상 파일 원본: Documents/CopyLane_share/CopyLane_시연영상_2026-10-22_더빙v4.mp4</a:t>
            </a:r>
          </a:p>
        </p:txBody>
      </p:sp>
    </p:spTree>
    <p:extLst>
      <p:ext uri="{BB962C8B-B14F-4D97-AF65-F5344CB8AC3E}">
        <p14:creationId xmlns:p14="http://schemas.microsoft.com/office/powerpoint/2010/main" val="42441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중간 발표 이후 5주 동안의 변화입니다. 왼쪽은 9/15 발표 때의 실제 상태, 오른쪽이 지금입니다.</a:t>
            </a:r>
          </a:p>
          <a:p>
            <a:r>
              <a:t>판정 API 가 501 이던 것이 지금은 검수 그래프 전체가 돌고, copylane.site 로 HTTPS 서비스 중입니다.</a:t>
            </a:r>
          </a:p>
          <a:p>
            <a:r>
              <a:t>테스트 수는 원장 10-22(A) ① — 전체 3,429 passed · 게이트 2,295.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검수 결과와 고쳐 쓰기 화면입니다. 시연 영상에서 같은 문구(「고혈압 예방에 효과적인 문경 오미자청 …」)로 다시 보여 드립니다.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카피 생성과 AI 광고 생성 화면입니다. 만든 문구도, 지면에서 고친 문구도 같은 판정 코어를 지납니다.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README 의 「숫자로 본 CopyLane」을 발표용으로 옮긴 장입니다.</a:t>
            </a:r>
          </a:p>
          <a:p>
            <a:r>
              <a:t>근거 — 판정 재료: 조문 조각 6,686 · 금지 표현 사전 4,342 · 사람이 조문을 보고 정답을 단 문장 8,383.</a:t>
            </a:r>
          </a:p>
          <a:p>
            <a:r>
              <a:t>판정 — 「위반」이라고 확정한 것 중 틀린 비율 1.5%. 대신 확정한 비율은 8.4% 뿐입니다. 확신할 때만 확정하고 나머지는 근거와 질문으로 돌려주는 설계라서입니다. 질문에 답하면 90.7% 가 정답 유형까지 갑니다.</a:t>
            </a:r>
          </a:p>
          <a:p>
            <a:r>
              <a:t>운영 — copylane.site 에서 HTTPS 로 서비스, 밖에서 잰 응답 0.6초, 서비스 테스트 84 중 80 통과.</a:t>
            </a:r>
          </a:p>
          <a:p>
            <a:r>
              <a:t>엔지니어링 — 자동 시험 3,429, 설계 결정 350건, 품목 가정을 바꿔도 앞뒤가 다른 판정 0.</a:t>
            </a:r>
          </a:p>
          <a:p>
            <a:r>
              <a:t>판정 수치는 개발용 평가셋이라 실제보다 좋게 나올 수 있고, 마지막 시험지(봉인 평가셋)는 아직 열지 않았습니다.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전체 구성입니다.</a:t>
            </a:r>
          </a:p>
          <a:p>
            <a:r>
              <a:t>사용자와 관리자는 copylane.site(HTTPS)로 들어옵니다. 관리자 화면은 허용된 IP 에서만 열립니다.</a:t>
            </a:r>
          </a:p>
          <a:p>
            <a:r>
              <a:t>AWS GPU 서버 한 대에 FastAPI 앱이 있고, 그 안의 판정 코어(LangGraph 그래프 하나)를 검수 · 카피 생성 · 광고 생성 · 고쳐 쓰기 재판정이 모두 지납니다.</a:t>
            </a:r>
          </a:p>
          <a:p>
            <a:r>
              <a:t>모델은 셋 — 검색 임베딩 KURE-v1(GPU), 판정 인코더 KcBERT D4-20(CPU), 자체 sLLM Qwen3-4B + LoRA(GPU · 별도 서비스). 어떤 판을 쓸지는 models.lock.json 의 지문이 정합니다.</a:t>
            </a:r>
          </a:p>
          <a:p>
            <a:r>
              <a:t>외부 GPT 는 카피 후보를 쓰는 데만 쓰고, 판정 경로에는 외부 호출이 없습니다.</a:t>
            </a:r>
          </a:p>
          <a:p>
            <a:r>
              <a:t>아래 줄 — 데이터는 런처로 수집 게이트 · 전처리 · 적재를 거쳐 따로 들어옵니다(뒤에서 설명).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A 검수 · B 카피 생성 · C 광고 생성 — 셋 다 같은 판정 코어를 지납니다.</a:t>
            </a:r>
          </a:p>
          <a:p>
            <a:r>
              <a:t>코어 안: 문장 분할 → 적용 법 → 근거 검색 → 사전 → 인코더 → 법별 판정(3법 병렬) → 규칙 판정 → 위험도 하한 → 품목 분기.</a:t>
            </a:r>
          </a:p>
          <a:p>
            <a:r>
              <a:t>결과는 넷 — 보류 · 증명서 · 지시 · 통과. 통과는 모든 문장이 확정이고 위험도 R0 일 때만 냅니다. 위반을 못 찾은 것만으로는 통과가 아닙니다(D-340 결정 6).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판정 재료입니다. 등록부에 오른 원천 70 개 중 2인 확인을 마친 53 개만 DB 에 들어갔습니다.</a:t>
            </a:r>
          </a:p>
          <a:p>
            <a:r>
              <a:t>골든셋 8,383 · 금지 표현 사전 4,342 · 조문 청크 6,686 · 서명된 제재표 38행.</a:t>
            </a:r>
          </a:p>
          <a:p>
            <a:r>
              <a:t>근거 검색은 어휘와 벡터 순위를 RRF 로 합쳐 문장마다 한 번 — 결과 화면의 「근거 보기」에 조문으로 나옵니다.</a:t>
            </a:r>
          </a:p>
          <a:p>
            <a:r>
              <a:t>거버넌스는 문서가 아니라 코드에 있습니다 — 등록되지 않은 원천은 수집이 실행되지 않습니다.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말로 설명하는 장입니다.</a:t>
            </a:r>
          </a:p>
          <a:p>
            <a:r>
              <a:t>핵심: 「AI 가 위법이라 했다」가 아니라 「이 사전 항목 · 이 조문 때문에」로 확정합니다.</a:t>
            </a:r>
          </a:p>
          <a:p>
            <a:r>
              <a:t>05 인코더는 유형 후보와 확신을 내고, 확신 문턱을 넘을 때만 확정 자리에 씁니다.</a:t>
            </a:r>
          </a:p>
          <a:p>
            <a:r>
              <a:t>07 규칙 판정은 단독 확정 자격이 있는 사전 적중만 확정, 나머지는 보류.</a:t>
            </a:r>
          </a:p>
          <a:p>
            <a:r>
              <a:t>08 위험도는 2인이 서명한 제재표에서 하한을 찾습니다(다음 장).</a:t>
            </a:r>
          </a:p>
          <a:p>
            <a:r>
              <a:t>09 품목을 모르면 식품 · 건기식 · 화장품 전제마다 판정하고 묻습니다.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부록 — 시연 문구가 판정 코어 안에서 어떻게 처리되는지 노드별 실행 기록입니다.</a:t>
            </a:r>
          </a:p>
          <a:p>
            <a:r>
              <a:t>① 품목이 식품이라 표시광고법 + 식품표시광고법 두 법을 봅니다. ② 조문 후보를 어휘 + 벡터로 찾고 ③ 금지 표현 사전이 「고혈압 예방」을 짚습니다.</a:t>
            </a:r>
          </a:p>
          <a:p>
            <a:r>
              <a:t>④ 인코더도 질병 예방 · 치료 표방을 가리킵니다. ⑤ 규칙 판정이 확정 위반으로 정하고 ⑥ 서명된 제재표에서 위험도 하한 R2 를 찾습니다.</a:t>
            </a:r>
          </a:p>
          <a:p>
            <a:r>
              <a:t>노드별 시간은 이 PC 한 번 실행 값이라 참고용입니다.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이 프로젝트에서 가장 자랑하고 싶은 장입니다.</a:t>
            </a:r>
          </a:p>
          <a:p>
            <a:r>
              <a:t>왼쪽 — 환각 제어. 판정 경로에는 생성형 LLM 이 없습니다. 판정 경로가 외부 호출을 부르면 시험이 실패합니다. 근거 없이 위험도를 올리면 응답이 거부됩니다.</a:t>
            </a:r>
          </a:p>
          <a:p>
            <a:r>
              <a:t>가운데 — fail-closed. 엔진이나 DB 가 없으면 가짜 결과 대신 503 · 501 을 냅니다. 위반을 못 찾았다고 통과시키지 않습니다.</a:t>
            </a:r>
          </a:p>
          <a:p>
            <a:r>
              <a:t>오른쪽 — 일관성. 품목을 모를 때 「위반 확정」이라고 했다면 식품이든 건기식이든 화장품이든 어느 쪽으로 가정해도 같은 답이어야 합니다. 1,147문장에서 이 약속이 깨진 문장이 0 이었습니다(불변식 위반 0). 그리고 품목을 처음부터 알려 준 판정과, 모른 채 시작해 화면에서 골라 준 판정을 668쌍 비교했더니 결과가 다른 쌍이 0 이었습니다(경로 동치).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검수 화면의 분기를 단계로 보여 줍니다.</a:t>
            </a:r>
          </a:p>
          <a:p>
            <a:r>
              <a:t>1) 유형을 모르면 판정을 멈추고 유형부터 묻습니다. 2) 같은 식품 안에서도 기능성 표시 여부를 한 번 더 묻습니다. 3) ‘판매 1위’처럼 근거가 필요한 표현은 사실 확인 질문 — 답으로 다시 판정합니다.</a:t>
            </a:r>
          </a:p>
          <a:p>
            <a:r>
              <a:t>dev 1,147행: 질문이 선 행 287, 「아니오」 답 뒤 정답 유형 도달 195/215(90.7%), 경로 동치 0/668 — 품목을 처음부터 넘긴 판정과 나중에 고른 판정이 한 행도 어긋나지 않습니다.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판정 인코더는 사전이 못 본 위반을 찾아 주는 두 번째 눈입니다.</a:t>
            </a:r>
          </a:p>
          <a:p>
            <a:r>
              <a:t>왼쪽 — 정답이 「위반」인 문장 510개 중, 사전만으로 확정한 것은 12.7%, 인코더 후보까지 보면 84% 를 짚습니다.</a:t>
            </a:r>
          </a:p>
          <a:p>
            <a:r>
              <a:t>그래도 인코더 결과를 그대로 확정하지 않습니다 — 어느 법 · 어느 호인지 근거를 직접 내지 못하기 때문입니다. 확신 점수가 문턱을 넘을 때만 확정 자리에 씁니다.</a:t>
            </a:r>
          </a:p>
          <a:p>
            <a:r>
              <a:t>오른쪽 — 버전 셋. 1판(9월 · 내부 이름 실험 카드 17)은 문장만 보고 유형 후보를 냈고, 2판(D4-10)은 품목과 사실 전제를 함께 넣었고, 3판(D4-20)은 기능성 표시 데이터를 더해 10-19 에 채택했습니다. 2판 → 3판에서 틀린 확정 비율이 4.0% → 0.0% 로 내려갔습니다.</a:t>
            </a:r>
          </a:p>
          <a:p>
            <a:r>
              <a:t>쓰는 버전은 models.lock.json 이 정하고, 인코더는 CPU 로 돕니다.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재생성(고쳐 쓰기)은 위반 원문을 고쳐 쓰는 기능입니다 — 카피 생성과는 다른 기능입니다.</a:t>
            </a:r>
          </a:p>
          <a:p>
            <a:r>
              <a:t>GPT 가 아니라 우리가 직접 파인튜닝한 Qwen3-4B 모델이 GPU 서버에서 돕니다. 고객 문구가 외부로 나가지 않습니다.</a:t>
            </a:r>
          </a:p>
          <a:p>
            <a:r>
              <a:t>네 겹: ① 모델이 못 고치면 「불가」라고 답하도록 학습 ② 관문이 금지어 · 지어낸 낱말을 막고 ③ 후처리가 공식 기능성 문구로 바로잡고 ④ 판정 코어로 처음부터 다시 판정합니다. 재판정에는 앞서 한 답도 함께 넘깁니다.</a:t>
            </a:r>
          </a:p>
          <a:p>
            <a:r>
              <a:t>2단계 다듬기는 앱 기본이 규칙판입니다.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시장 · BM 가설입니다. 전문 심의는 건당 3만 ~ 16.5만 원이고, 실수의 비용은 반려가 아니라 형사처벌까지 갈 수 있습니다.</a:t>
            </a:r>
          </a:p>
          <a:p>
            <a:r>
              <a:t>무료 검수 → 팀 업무 → 기업 구축의 3단은 가설이고, 가격은 미확정입니다. 확정된 것은 에디션 둘(기업 온프레미스 / 셀러 클라우드)과 과금 경계 = sLLM 사용 여부(D-69)입니다.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자체 sLLM 고쳐 쓰기(이서은)의 평가입니다.</a:t>
            </a:r>
          </a:p>
          <a:p>
            <a:r>
              <a:t>버전 넷 — v14 는 기존 데이터 2,019 문장으로 학습한 지금 서버 버전, v17 은 기존에 새 데이터를 더한 4,589 문장, n2 는 새 데이터 2,570 문장만으로 학습, 그리고 n2 에 「되살리기 규칙」을 얹은 버전입니다.</a:t>
            </a:r>
          </a:p>
          <a:p>
            <a:r>
              <a:t>「불가」 맞힘 — 고칠 수 없는 문장을 고칠 수 없다고 맞힌 수. 새 데이터로 55 → 66~67 로 좋아졌습니다.</a:t>
            </a:r>
          </a:p>
          <a:p>
            <a:r>
              <a:t>지나친 거절 — 살릴 수 있는 문장을 버린 수. 새 데이터 버전에서 6 → 14~15 로 늘었고, 되살리기 규칙으로 다시 6 이 됐습니다. 응답도 7.3초 → 3.9초.</a:t>
            </a:r>
          </a:p>
          <a:p>
            <a:r>
              <a:t>위반 포장 — 고쳤다고 내놨는데 위반이 그대로 남은 문장. 모든 버전 · 모든 시험에서 0 입니다.</a:t>
            </a:r>
          </a:p>
          <a:p>
            <a:r>
              <a:t>※ 서버는 지금 v14 로 돕니다. n2 + 되살리기는 채택이 결정됐고 잠금 등재를 기다립니다.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카피 생성 엔진(권소라)입니다. 생성과 판정은 분리돼 있습니다.</a:t>
            </a:r>
          </a:p>
          <a:p>
            <a:r>
              <a:t>왼쪽 생성 엔진 — 품목 × 인증 여부로 6개 분기, 원칙 5개와 분기 규칙 · 예시로 프롬프트를 만들고, GPT 두 모델에서 10개씩 후보 20개를 받습니다. 코드 필터 9종이 지어낸 수치 · 인증 · 최상급을 먼저 거릅니다.</a:t>
            </a:r>
          </a:p>
          <a:p>
            <a:r>
              <a:t>가운데 — 생성 엔진은 후보 문장만 판정 엔진에 넘기고, 판정 결과만 받습니다.</a:t>
            </a:r>
          </a:p>
          <a:p>
            <a:r>
              <a:t>오른쪽 판정 엔진 — 검수와 같은 판정 함수입니다. 생성 엔진이 있는지 모르고, 받은 문장을 검수와 똑같이 판정합니다. 생성 쪽은 판정 코드를 새로 쓰거나 바꾸지 않습니다.</a:t>
            </a:r>
          </a:p>
          <a:p>
            <a:r>
              <a:t>걸린 후보는 탈락하고, 남은 후보를 위반 문턱까지의 거리로 줄 세워 A안(보수안) · B안(균형안) · C안(공격안)을 고릅니다. 3개가 안 모이면 최대 3라운드, 그래도 안 되면 「탐색 실패」로 알립니다.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프롬프트는 시스템 + 사용자 두 개. 시스템은 모든 분기 공통 원칙 5개입니다.</a:t>
            </a:r>
          </a:p>
          <a:p>
            <a:r>
              <a:t>사용자 프롬프트는 블록을 쌓습니다 — 분기, 제품 정보(이것이 사실의 전부), 쓸 수 있는 것, 지킬 것, 좋은 예 · 나쁜 예.</a:t>
            </a:r>
          </a:p>
          <a:p>
            <a:r>
              <a:t>핵심 아이디어 두 가지:</a:t>
            </a:r>
          </a:p>
          <a:p>
            <a:r>
              <a:t>① 건기식 인정 · 화장품 심사 문구는 GPT에게 쓰게 하지 않습니다. {{고정문구}} 자리만 두게 하고, 인정받은 문구를 코드가 글자 그대로 끼웁니다 — 기능성 문구를 GPT가 바꿔 쓰면 바로 위반이 되기 때문입니다.</a:t>
            </a:r>
          </a:p>
          <a:p>
            <a:r>
              <a:t>② 다음 라운드에는 이미 뽑힌 문구와 탈락 사유 유형 · 건수만 넣어, 겹치지 않고 같은 실수를 피하게 합니다.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10-12 실측입니다: 6개 분기 × 20개 = 120개 중 96개(80%)가 판정 인코더를 통과했습니다. 탈락 24개 중 10개는 인코더, 14개는 두 모델이 서로 닮은 문구를 낸 중복.</a:t>
            </a:r>
          </a:p>
          <a:p>
            <a:r>
              <a:t>지어낸 수치 · 인증으로 걸린 것은 0 — 프롬프트 단계에서 이미 막혔다는 뜻입니다.</a:t>
            </a:r>
          </a:p>
          <a:p>
            <a:r>
              <a:t>※ 이 측정은 인코더만으로 잰 것입니다. 10-13 부터는 판정 그래프 전체를 지나므로 지금 경로의 통과율과는 다를 수 있습니다.</a:t>
            </a:r>
          </a:p>
          <a:p>
            <a:r>
              <a:t>「통과」는 위반 후보를 못 찾았다는 뜻이지 적법 확인이 아닙니다.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판정 엔진 성적입니다. 품목을 알려 준 1,147문장 기준입니다.</a:t>
            </a:r>
          </a:p>
          <a:p>
            <a:r>
              <a:t>- 위반 확정 75: 「쓸 수 없다」고 확정한 문장. 새로 확정한 43개 중 40개는 위반 종류까지 정답이었습니다.</a:t>
            </a:r>
          </a:p>
          <a:p>
            <a:r>
              <a:t>- 확정이 틀린 비율 1.5%: 위반이라 확정한 66개 중 1개가 틀렸습니다.</a:t>
            </a:r>
          </a:p>
          <a:p>
            <a:r>
              <a:t>- 적법 문장을 위반으로 확정한 경우 0, 품목을 모를 때도 적법 38개 중 0.</a:t>
            </a:r>
          </a:p>
          <a:p>
            <a:r>
              <a:t>- 대신 확정한 문장은 8.4% 뿐 — 나머지는 근거와 질문으로 돌려줍니다. 확신할 때만 확정하는 설계라서입니다.</a:t>
            </a:r>
          </a:p>
          <a:p>
            <a:r>
              <a:t>이 평가 문장은 버전과 기준을 고를 때 쓴 것이라 실제보다 좋게 나올 수 있습니다. 마지막 시험지(봉인 평가셋)는 아직 열지 않았습니다.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가장 크게 막혔던 것들입니다.</a:t>
            </a:r>
          </a:p>
          <a:p>
            <a:r>
              <a:t>01 실제 광고 심사는 문구만 보지 않고 제품 유형 · 인증 · 실증 자료를 함께 봅니다. 문구만으로는 결론이 안 나는 경우가 많아, 품목 분기와 사실 확인 질문으로 풀었습니다.</a:t>
            </a:r>
          </a:p>
          <a:p>
            <a:r>
              <a:t>02 법령 · 고시를 기준으로 「이 문구는 어떤 위반」이라는 정답 데이터가 없었습니다. 판정 요청과 판독, 2인 확인으로 골든셋을 직접 라벨링했습니다.</a:t>
            </a:r>
          </a:p>
          <a:p>
            <a:r>
              <a:t>03 인코더는 위반 유형까지 알지만 근거 조문을 말하지 못합니다. 그래서 확정은 사전 · 규칙 · 근거로 하고, 인코더 유형은 제재표 · 낱말표를 통해 호까지 연결하는 작업을 하고 있습니다.</a:t>
            </a:r>
          </a:p>
          <a:p>
            <a:r>
              <a:t>04~06 생성 쪽 — GPT 정답 오류, 인정 문구 변형, 평가 오염을 각각 구조로 막았습니다.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배포와 서버 리소스 관리는 소성민 님이 맡았습니다.</a:t>
            </a:r>
          </a:p>
          <a:p>
            <a:r>
              <a:t>AWS GPU 서버(g4dn.xlarge · Tesla T4) 한 대에 앱 · 조문 검색 · 자체 sLLM 을 올리고, DB 는 RDS 로 분리했습니다. 10-22 부터 copylane.site 에서 HTTPS 로 돕니다. 관리자 화면은 허용된 IP 에서만 열리고, 서버는 main 에 들어간 커밋만 받습니다.</a:t>
            </a:r>
          </a:p>
          <a:p>
            <a:r>
              <a:t>응답 시간 — 실제 주소로 밖에서 잰 값입니다. 혼자 쓰면 보통 0.6초, 10명이 동시에 쓰면 3.1초, 30명이 동시에 쓰면 9.2초. 어느 경우에도 실패는 0 이었습니다. 처리 워커가 1개라 동시 사용자가 늘면 기다리는 시간이 늘어나는 구조입니다.</a:t>
            </a:r>
          </a:p>
          <a:p>
            <a:r>
              <a:t>서비스 테스트 84항목 중 80 통과, 서비스 기능 장애 0. 시험 중 /dev 경로가 밖에 열린 것을 찾아 바로 닫았습니다.</a:t>
            </a:r>
          </a:p>
          <a:p>
            <a:r>
              <a:t>남은 위험 — 요청 횟수 제한이 아직 없습니다.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협업의 핵심은 「같은 사실을 두 곳에 적지 않는다」입니다.</a:t>
            </a:r>
          </a:p>
          <a:p>
            <a:r>
              <a:t>설계 결정 350건은 하나의 원장에 대안과 기각 이유까지, 수치는 사실 원장 하나에 날짜 · 기기 · 판과 함께, 모델 판은 잠금 파일 하나.</a:t>
            </a:r>
          </a:p>
          <a:p>
            <a:r>
              <a:t>자동 테스트 3,429개(그중 게이트 2,295) — 원장 10-22(A) ①.</a:t>
            </a:r>
          </a:p>
          <a:p>
            <a:r>
              <a:t>다음 두 장은 다섯 명이 같은 환경에서 일하게 만든 두 가지 — 런처와 Google Drive 공유입니다.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남은 과제와 다음 단계를 한 장으로 합쳤습니다.</a:t>
            </a:r>
          </a:p>
          <a:p>
            <a:r>
              <a:t>01 보류가 많다 — 다음은 봉인 평가셋을 한 번 열어 최종 성능을 확정하는 것입니다.</a:t>
            </a:r>
          </a:p>
          <a:p>
            <a:r>
              <a:t>02 인코더는 유형까지 알지만 근거 조문을 직접 내지 못합니다 — 제재표 · 낱말표로 호까지 연결합니다.</a:t>
            </a:r>
          </a:p>
          <a:p>
            <a:r>
              <a:t>03 재생성은 거절이 많습니다 — 잘못 고친 문장보다 거절이 안전하다고 판단했고, n2 판 등재와 데이터 확대로 보완합니다.</a:t>
            </a:r>
          </a:p>
          <a:p>
            <a:r>
              <a:t>04 운영 — 도메인 · HTTPS 는 끝냈고, 요청 횟수 제한 · 개인정보처리방침 · 접속기록 보관이 남았습니다.</a:t>
            </a:r>
          </a:p>
          <a:p>
            <a:r>
              <a:t>CopyLane 은 1차 스크리닝이며 법적 확정 판단이 아닙니다.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CopyLane 의 철학 네 가지입니다.</a:t>
            </a:r>
          </a:p>
          <a:p>
            <a:r>
              <a:t>1 경계는 법이 긋는다 — 근거 조문 없이 판정하지 않습니다.</a:t>
            </a:r>
          </a:p>
          <a:p>
            <a:r>
              <a:t>2 모르면 묻는다 — 품목 · 인정 여부 · 실증 자료처럼 문구만으로 알 수 없는 사실은 추측하지 않고 질문합니다.</a:t>
            </a:r>
          </a:p>
          <a:p>
            <a:r>
              <a:t>3 틀린 통과보다 정직한 보류 — 위반을 못 찾았다고 적법이라 하지 않습니다.</a:t>
            </a:r>
          </a:p>
          <a:p>
            <a:r>
              <a:t>4 규칙은 코드가 지킨다 — 등록되지 않은 데이터는 수집 자체가 막히고, 원칙은 시험과 DB 제약이 지킵니다.</a:t>
            </a:r>
          </a:p>
          <a:p>
            <a:r>
              <a:t>뒤의 모든 장이 이 네 가지 중 하나로 설명됩니다.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발표자 줄은 실제 발표자에 맞게 고쳐 주세요.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전처리입니다. 왼쪽 원천 다섯 묶음이 골든셋 8,383행이 됩니다. PDF · HWP 5 에 더해 HWP 3 는 자체 파서로 읽었습니다.</a:t>
            </a:r>
          </a:p>
          <a:p>
            <a:r>
              <a:t>1 파싱 · 마스킹 — 업체명 · 대표자 · 주소를 가립니다. 정규화가 만드는 위치 맵이 어긋나지 않게 마스킹을 먼저 합니다.</a:t>
            </a:r>
          </a:p>
          <a:p>
            <a:r>
              <a:t>2 정규화 · 추출 — 원문 위치를 남기고 문장 단위로 뽑아, 근거를 원문 쪽 · 칸까지 되짚을 수 있게 합니다.</a:t>
            </a:r>
          </a:p>
          <a:p>
            <a:r>
              <a:t>3 판독 — 라벨의 정본은 조문 인용입니다. 근거와 유형이 어긋나면 쓰지 않고 멈춥니다.</a:t>
            </a:r>
          </a:p>
          <a:p>
            <a:r>
              <a:t>4 분할 — 문서 단위로, 사전을 만들기 전에 나눕니다. 평가 문구가 사전에 새지 않게 하려는 순서입니다.</a:t>
            </a:r>
          </a:p>
          <a:p>
            <a:r>
              <a:t>5 사전 · 주입 — 학습 문서로만 사전을 만들고, 승인 문구에 금지 유형을 규칙으로 주입해 784행을 만들었습니다.</a:t>
            </a:r>
          </a:p>
          <a:p>
            <a:r>
              <a:t>법령은 따로 — 조문 · 별표를 청크 6,686 으로 나누고 KURE-v1 로 임베딩합니다.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전처리에서 부딪힌 함정과, 그것을 규칙으로 만든 방법입니다.</a:t>
            </a:r>
          </a:p>
          <a:p>
            <a:r>
              <a:t>개인정보는 앵커 방식으로 가리고 다시 검사해 개인 식별 0. 근거 조문과 유형이 어긋나면 쓰지 않고 멈춥니다. 평가 문구가 사전에 새지 않도록 분할을 먼저 합니다.</a:t>
            </a:r>
          </a:p>
          <a:p>
            <a:r>
              <a:t>오른쪽 — 재현성. 분할은 seed 와 입력 지문으로 고정하고, 봉인 평가셋은 정해진 절차로만 열립니다. DB 에 넣은 뒤 되읽어 수가 다르면 멈춥니다.</a:t>
            </a:r>
          </a:p>
          <a:p>
            <a:r>
              <a:t>표본이 30 에 못 미치는 항목은 「측정 불가」라고 적습니다.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R0 가 무엇이냐는 질문을 자주 받아 한 장으로 만들었습니다.</a:t>
            </a:r>
          </a:p>
          <a:p>
            <a:r>
              <a:t>위험도는 우리가 정한 점수가 아니라, 법이 정한 처분 단계입니다. R1 시정명령 · R2 업무 · 영업정지 · R3 허가 취소 · 영업소 폐쇄. R0 는 특이사항 없음입니다.</a:t>
            </a:r>
          </a:p>
          <a:p>
            <a:r>
              <a:t>계산은 2인이 서명한 제재표에서 하한을 읽고, 사전과 인코더 중 높은 쪽을 씁니다. 인코더만으로는 R1 을 넘지 못하고, 근거 없이 위험도를 올리는 응답은 계약(Pydantic)이 거부합니다.</a:t>
            </a:r>
          </a:p>
          <a:p>
            <a:r>
              <a:t>중요한 구분 — 위반을 못 찾은 것은 R0 가 아니라 보류입니다. 통과는 모든 문장이 확정이고 R0 일 때뿐입니다.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분기 로직입니다.</a:t>
            </a:r>
          </a:p>
          <a:p>
            <a:r>
              <a:t>결론은 넷이고, 문장마다 가장 무거운 것이 이깁니다 — 보류 &gt; 증명서 &gt; 지시 &gt; 통과.</a:t>
            </a:r>
          </a:p>
          <a:p>
            <a:r>
              <a:t>보류는 이유가 다섯입니다. 답 대기는 질문에 답하면 다시 판정, 고르기 대기는 품목을 고르면 판정, 확인 못 함은 근거나 위험도 하한이 모자란 경우, 걸린 것 없음은 위반 표현을 못 찾은 경우입니다.</a:t>
            </a:r>
          </a:p>
          <a:p>
            <a:r>
              <a:t>오른쪽 위 작은 수는 dev 1,147행 기준 행 수입니다(겹침 있음).</a:t>
            </a:r>
          </a:p>
          <a:p>
            <a:r>
              <a:t>「걸린 것 없음」을 통과로 열지 않은 이유 — 이 꼴의 37.9% 가 실제로는 위반이었습니다. 그래서 통과가 아니라 보류로 둡니다.</a:t>
            </a:r>
          </a:p>
          <a:p>
            <a:r>
              <a:t>※ 보류 종류의 화면 안내 문안은 초안이며 팀장 승인 대기입니다.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확장성 이야기입니다.</a:t>
            </a:r>
          </a:p>
          <a:p>
            <a:r>
              <a:t>품목이 들어오면 라우팅 표가 적용할 법을 고르고, 법마다 따로 있는 노드가 병렬로 판정한 뒤 합칩니다. 새 법을 더할 때는 표에 줄을 하나 더하고, 그 법의 노드 · 조문 · 제재표를 붙이면 됩니다. 기존 법의 판정은 건드리지 않습니다. 두 표가 어긋나면 앱이 아예 시작하지 않습니다.</a:t>
            </a:r>
          </a:p>
          <a:p>
            <a:r>
              <a:t>법은 계속 바뀝니다. 공포됐지만 아직 시행 전인 조항은 「시행 예정」으로 표시해 싣고, 원문이 바뀌어 조항을 찾지 못하면 적재가 멈춥니다.</a:t>
            </a:r>
          </a:p>
          <a:p>
            <a:r>
              <a:t>다음 확장 1순위는 의료기기 광고입니다.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실제 카피 생성 결과를 큰 글자로 옮겼습니다(원래 화면은 시연 영상에 있습니다).</a:t>
            </a:r>
          </a:p>
          <a:p>
            <a:r>
              <a:t>위 — A안 · B안 · C안. A안은 위반 유형에서 가장 먼 후보, C안은 문턱에 가장 가깝지만 넘지 않은 후보, B안은 그 사이에서 둘과 덜 닮은 것입니다.</a:t>
            </a:r>
          </a:p>
          <a:p>
            <a:r>
              <a:t>가운데 — 남은 후보 16개가 판정 인코더 기준으로 위반 유형에 얼마나 가까운지 점으로 보여 줍니다. 문턱을 넘은 후보는 이미 탈락해 여기 없습니다.</a:t>
            </a:r>
          </a:p>
          <a:p>
            <a:r>
              <a:t>아래 — 남았다는 건 「위반 후보를 못 찾았다」는 뜻이지 적법 확인이 아닙니다. 그래서 광고 생성으로 넘어가면 판정을 한 번 더 받습니다.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팀원 다섯 명의 PC 와 서버가 같은 환경에서 돌게 만든 런처입니다.</a:t>
            </a:r>
          </a:p>
          <a:p>
            <a:r>
              <a:t>왼쪽 — 새 팀원은 setup.bat 을 더블클릭하고, onboard 로 DB 까지 세웁니다. onboard 는 마지막에 진단해서 빨강이면 실패로 끝납니다 — 「됐겠지」로 넘어가지 않게.</a:t>
            </a:r>
          </a:p>
          <a:p>
            <a:r>
              <a:t>그다음 data-setup 이 Google Drive 의 공유 폴더를 찾아 설정하고, data-sync 가 git 원장이 정한 판의 데이터만 받습니다.</a:t>
            </a:r>
          </a:p>
          <a:p>
            <a:r>
              <a:t>오른쪽 — 메뉴 하나에 명령 54개. 사람이 외우던 순서(수집 → 추출 → 골든셋 → 적재 → 청크 → 임베딩)를 코드로 묶었습니다.</a:t>
            </a:r>
          </a:p>
          <a:p>
            <a:r>
              <a:t>API 키는 화면과 셸 기록에 남지 않게 입력받고, 런처가 대신할 수 없는 것(키 · 원문 · git)은 지어서 넘어가지 않고 이름으로 알립니다.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Google Drive 를 어떻게 썼는지입니다.</a:t>
            </a:r>
          </a:p>
          <a:p>
            <a:r>
              <a:t>git 에는 「무엇이 필요한가」만 둡니다 — 파생물 원장(경로 → sha256)과 모델 잠금 파일.</a:t>
            </a:r>
          </a:p>
          <a:p>
            <a:r>
              <a:t>실제 파일은 공유 폴더 CopyLane_store 에 있습니다. Google Drive for desktop 으로 붙여 그냥 폴더처럼 씁니다. 파일 이름이 내용의 해시라서 같은 내용은 한 번만 저장되고, 옛 커밋으로 돌아가도 그 판이 다시 섭니다.</a:t>
            </a:r>
          </a:p>
          <a:p>
            <a:r>
              <a:t>받는 쪽은 부족한 것만 받고, sha 가 원장과 다르면 놓지 않습니다(fail-closed).</a:t>
            </a:r>
          </a:p>
          <a:p>
            <a:r>
              <a:t>모델도 같습니다 — 팀원이 copylane-models 폴더에 제출해도, 팀장이 잠금 파일에 등재하기 전까지 앱은 그 판을 쓰지 않습니다.</a:t>
            </a:r>
          </a:p>
          <a:p>
            <a:r>
              <a:t>아래 — 마스킹 전 원문은 기기를 떠나지 않고, 재배포 제약 원천을 받은 기기는 올리기 자체가 막힙니다.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위험도가 어떻게 정해지는지입니다. 이 프로젝트의 핵심 규칙입니다.</a:t>
            </a:r>
          </a:p>
          <a:p>
            <a:r>
              <a:t>① 문장 「고혈압 예방에 효과적인 오미자청」. ② 금지 표현 사전이 「고혈압 예방」을 잡고, 그 항목이 가리키는 조문 — 식품표시광고법 제8조 제1항 제1호 — 이 근거가 됩니다. ③ 위반 유형은 모델이 정하는 게 아니라 인용한 조문에서 계산합니다. ④ 2인이 서명한 제재표에서 (유형 × 법 × 별표 목)으로 처분 단계를 찾습니다 — 업무 · 영업정지. ⑤ 그래서 하한 R2, 최종 R2.</a:t>
            </a:r>
          </a:p>
          <a:p>
            <a:r>
              <a:t>아래 세 규칙 — 제재표에 맞는 행이 하나라도 없으면 하한을 지어내지 않고 보류합니다. 최종 위험도는 사전 하한과 인코더 하한 중 높은 쪽이고, 그보다 낮게 적으면 응답 계약이 응답을 거부하고 DB 제약이 저장을 거부합니다. 하한보다 높게 적으려면 문장 속 근거 위치가 있어야 합니다. 인코더는 보류 문장에만, R1 까지만, 근거 호와 함께 위험도를 붙일 수 있습니다.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gradFill rotWithShape="1">
            <a:gsLst>
              <a:gs pos="0">
                <a:srgbClr val="833AB4"/>
              </a:gs>
              <a:gs pos="40000">
                <a:srgbClr val="C13584"/>
              </a:gs>
              <a:gs pos="70000">
                <a:srgbClr val="E1306C"/>
              </a:gs>
              <a:gs pos="100000">
                <a:srgbClr val="F56040"/>
              </a:gs>
            </a:gsLst>
            <a:lin ang="0" scaled="0"/>
          </a:gra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438912" y="65653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19A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 · SKN FINAL PROJECT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E">
    <p:bg>
      <p:bgPr>
        <a:solidFill>
          <a:srgbClr val="FB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33AB4"/>
          </a:solidFill>
          <a:ln w="12700">
            <a:solidFill>
              <a:srgbClr val="833A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5A1A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COPYLANE · SKN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AA6B1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89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2DFA06-325A-3CD7-4365-88E17FD976F2}"/>
              </a:ext>
            </a:extLst>
          </p:cNvPr>
          <p:cNvSpPr/>
          <p:nvPr/>
        </p:nvSpPr>
        <p:spPr>
          <a:xfrm>
            <a:off x="8503920" y="-640080"/>
            <a:ext cx="3429000" cy="3429000"/>
          </a:xfrm>
          <a:prstGeom prst="ellipse">
            <a:avLst/>
          </a:prstGeom>
          <a:gradFill rotWithShape="1">
            <a:gsLst>
              <a:gs pos="0">
                <a:srgbClr val="F3D6EF">
                  <a:alpha val="92000"/>
                </a:srgbClr>
              </a:gs>
              <a:gs pos="100000">
                <a:srgbClr val="FBD2E0">
                  <a:alpha val="92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F234F0-028E-258F-6A66-75D319353757}"/>
              </a:ext>
            </a:extLst>
          </p:cNvPr>
          <p:cNvSpPr/>
          <p:nvPr/>
        </p:nvSpPr>
        <p:spPr>
          <a:xfrm>
            <a:off x="9258300" y="-91440"/>
            <a:ext cx="754380" cy="44577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B27D59-908D-5AF0-AF9F-7E42A65D0DFD}"/>
              </a:ext>
            </a:extLst>
          </p:cNvPr>
          <p:cNvSpPr/>
          <p:nvPr/>
        </p:nvSpPr>
        <p:spPr>
          <a:xfrm>
            <a:off x="10378440" y="841248"/>
            <a:ext cx="1325880" cy="1325880"/>
          </a:xfrm>
          <a:prstGeom prst="ellipse">
            <a:avLst/>
          </a:prstGeom>
          <a:gradFill rotWithShape="1">
            <a:gsLst>
              <a:gs pos="0">
                <a:srgbClr val="F7A1C0">
                  <a:alpha val="88000"/>
                </a:srgbClr>
              </a:gs>
              <a:gs pos="100000">
                <a:srgbClr val="FBB59E">
                  <a:alpha val="88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20C19B-F3DB-88CE-6155-9DCEC97E136D}"/>
              </a:ext>
            </a:extLst>
          </p:cNvPr>
          <p:cNvSpPr/>
          <p:nvPr/>
        </p:nvSpPr>
        <p:spPr>
          <a:xfrm>
            <a:off x="10670134" y="1053389"/>
            <a:ext cx="291694" cy="17236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684C84C-E228-DCD7-2427-D5B5EDFB5436}"/>
              </a:ext>
            </a:extLst>
          </p:cNvPr>
          <p:cNvSpPr/>
          <p:nvPr/>
        </p:nvSpPr>
        <p:spPr>
          <a:xfrm>
            <a:off x="10329830" y="4892040"/>
            <a:ext cx="2057400" cy="2057400"/>
          </a:xfrm>
          <a:prstGeom prst="ellipse">
            <a:avLst/>
          </a:prstGeom>
          <a:gradFill rotWithShape="1">
            <a:gsLst>
              <a:gs pos="0">
                <a:srgbClr val="FBD3E1">
                  <a:alpha val="90000"/>
                </a:srgbClr>
              </a:gs>
              <a:gs pos="100000">
                <a:srgbClr val="FEDCCD">
                  <a:alpha val="90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F533F38-5D49-0C99-1971-B1A459D12D93}"/>
              </a:ext>
            </a:extLst>
          </p:cNvPr>
          <p:cNvSpPr/>
          <p:nvPr/>
        </p:nvSpPr>
        <p:spPr>
          <a:xfrm>
            <a:off x="10697566" y="5316093"/>
            <a:ext cx="452628" cy="26746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1E3AF0-5745-62CE-A8EE-A808D823A8AD}"/>
              </a:ext>
            </a:extLst>
          </p:cNvPr>
          <p:cNvSpPr/>
          <p:nvPr/>
        </p:nvSpPr>
        <p:spPr>
          <a:xfrm>
            <a:off x="-158696" y="6108192"/>
            <a:ext cx="658368" cy="658368"/>
          </a:xfrm>
          <a:prstGeom prst="ellipse">
            <a:avLst/>
          </a:prstGeom>
          <a:gradFill rotWithShape="1">
            <a:gsLst>
              <a:gs pos="0">
                <a:srgbClr val="F1DDF2">
                  <a:alpha val="98000"/>
                </a:srgbClr>
              </a:gs>
              <a:gs pos="100000">
                <a:srgbClr val="FDE1E8">
                  <a:alpha val="98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48EC5A6-9C2E-CABA-0A0E-C341EF9FC497}"/>
              </a:ext>
            </a:extLst>
          </p:cNvPr>
          <p:cNvSpPr/>
          <p:nvPr/>
        </p:nvSpPr>
        <p:spPr>
          <a:xfrm>
            <a:off x="-13855" y="6213531"/>
            <a:ext cx="144841" cy="8558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D885D03-2EE3-C64B-2B2B-3B434A7E9C7C}"/>
              </a:ext>
            </a:extLst>
          </p:cNvPr>
          <p:cNvSpPr/>
          <p:nvPr/>
        </p:nvSpPr>
        <p:spPr>
          <a:xfrm>
            <a:off x="640080" y="594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CE8EF"/>
          </a:solidFill>
          <a:ln w="12700">
            <a:solidFill>
              <a:srgbClr val="FCE8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214410-42D4-F8EC-ECE8-BE25E92B2467}"/>
              </a:ext>
            </a:extLst>
          </p:cNvPr>
          <p:cNvSpPr txBox="1"/>
          <p:nvPr/>
        </p:nvSpPr>
        <p:spPr>
          <a:xfrm>
            <a:off x="640080" y="6035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1358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SKN32 FINAL </a:t>
            </a:r>
            <a:r>
              <a:rPr lang="en-US" sz="1100" b="1" dirty="0">
                <a:solidFill>
                  <a:srgbClr val="C1358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042E80D-FF0E-C314-AAC9-D6A33C57FA47}"/>
              </a:ext>
            </a:extLst>
          </p:cNvPr>
          <p:cNvSpPr txBox="1"/>
          <p:nvPr/>
        </p:nvSpPr>
        <p:spPr>
          <a:xfrm>
            <a:off x="658368" y="2608759"/>
            <a:ext cx="5852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D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 에이전트 기반</a:t>
            </a:r>
            <a:endParaRPr lang="en-US" sz="2400" b="1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1D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 문구 준법 검수 · 생성 플랫폼</a:t>
            </a:r>
            <a:endParaRPr lang="en-US" sz="24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78F8B5-3056-BABB-A3B2-943508C73400}"/>
              </a:ext>
            </a:extLst>
          </p:cNvPr>
          <p:cNvSpPr txBox="1"/>
          <p:nvPr/>
        </p:nvSpPr>
        <p:spPr>
          <a:xfrm>
            <a:off x="640080" y="3932083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30" b="1">
                <a:solidFill>
                  <a:srgbClr val="C1358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 광고 </a:t>
            </a:r>
            <a:r>
              <a:rPr lang="en-US" sz="1430" b="1" dirty="0">
                <a:solidFill>
                  <a:srgbClr val="C1358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줄이 나가기 전, 근거와 함께 먼저 검수합니다.”</a:t>
            </a:r>
            <a:endParaRPr lang="en-US" sz="13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7841115-CE54-12AD-6B40-A2599F9E7F17}"/>
              </a:ext>
            </a:extLst>
          </p:cNvPr>
          <p:cNvSpPr/>
          <p:nvPr/>
        </p:nvSpPr>
        <p:spPr>
          <a:xfrm>
            <a:off x="676656" y="4593007"/>
            <a:ext cx="4023360" cy="0"/>
          </a:xfrm>
          <a:prstGeom prst="line">
            <a:avLst/>
          </a:prstGeom>
          <a:noFill/>
          <a:ln w="17780">
            <a:solidFill>
              <a:srgbClr val="F3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FB98565-D8A5-4F15-A549-AE9848BFB1AD}"/>
              </a:ext>
            </a:extLst>
          </p:cNvPr>
          <p:cNvSpPr/>
          <p:nvPr/>
        </p:nvSpPr>
        <p:spPr>
          <a:xfrm>
            <a:off x="-158696" y="694944"/>
            <a:ext cx="420624" cy="420624"/>
          </a:xfrm>
          <a:prstGeom prst="ellipse">
            <a:avLst/>
          </a:prstGeom>
          <a:solidFill>
            <a:srgbClr val="F2A9C4"/>
          </a:soli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9AC1FDD-5A0D-7A43-EB8A-600066A0EC84}"/>
              </a:ext>
            </a:extLst>
          </p:cNvPr>
          <p:cNvSpPr/>
          <p:nvPr/>
        </p:nvSpPr>
        <p:spPr>
          <a:xfrm>
            <a:off x="7572329" y="999988"/>
            <a:ext cx="92537" cy="54681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163A6F6-131C-1FD4-3C9D-F2780C5E4AF3}"/>
              </a:ext>
            </a:extLst>
          </p:cNvPr>
          <p:cNvSpPr/>
          <p:nvPr/>
        </p:nvSpPr>
        <p:spPr>
          <a:xfrm>
            <a:off x="11704320" y="4329654"/>
            <a:ext cx="548640" cy="548640"/>
          </a:xfrm>
          <a:prstGeom prst="ellipse">
            <a:avLst/>
          </a:prstGeom>
          <a:gradFill rotWithShape="1">
            <a:gsLst>
              <a:gs pos="0">
                <a:srgbClr val="F7A1C0">
                  <a:alpha val="95000"/>
                </a:srgbClr>
              </a:gs>
              <a:gs pos="100000">
                <a:srgbClr val="FBB59E">
                  <a:alpha val="95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B4BEF5D-3C3E-4E64-64C0-E27558C62558}"/>
              </a:ext>
            </a:extLst>
          </p:cNvPr>
          <p:cNvSpPr/>
          <p:nvPr/>
        </p:nvSpPr>
        <p:spPr>
          <a:xfrm>
            <a:off x="11857349" y="4394606"/>
            <a:ext cx="120701" cy="71323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B9005E-50A9-CCA0-6579-6B2FB67C3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FCBFFD3-A34E-165E-72C5-4BB8C65DE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195" y="1182295"/>
            <a:ext cx="4146264" cy="2073132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EEB2962E-1EE4-484E-B0AA-2521A83F73AF}"/>
              </a:ext>
            </a:extLst>
          </p:cNvPr>
          <p:cNvSpPr txBox="1"/>
          <p:nvPr/>
        </p:nvSpPr>
        <p:spPr>
          <a:xfrm>
            <a:off x="676656" y="4785030"/>
            <a:ext cx="6217920" cy="171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3팀 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b="1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    명  </a:t>
            </a:r>
            <a:r>
              <a:rPr lang="en-US" altLang="ko-KR" sz="1250" b="1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 </a:t>
            </a:r>
            <a:r>
              <a:rPr lang="ko-KR" altLang="en-US" sz="1250" b="1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끗 </a:t>
            </a:r>
            <a:endParaRPr lang="en-US" sz="1100" b="1" dirty="0">
              <a:solidFill>
                <a:srgbClr val="6F6A78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    장  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 </a:t>
            </a:r>
            <a:r>
              <a:rPr lang="ko-KR" altLang="en-US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오한빈</a:t>
            </a:r>
            <a:endParaRPr lang="en-US" sz="1100" dirty="0">
              <a:solidFill>
                <a:srgbClr val="6F6A78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ko-KR" altLang="en-US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    원  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 </a:t>
            </a:r>
            <a:r>
              <a:rPr lang="en-US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권소라 · 이서은 · 소성민 · </a:t>
            </a:r>
            <a:r>
              <a:rPr lang="en-US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박수진</a:t>
            </a:r>
            <a:endParaRPr lang="en-US" sz="1100" dirty="0">
              <a:solidFill>
                <a:srgbClr val="6F6A78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100" dirty="0">
              <a:solidFill>
                <a:srgbClr val="6F6A78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ko-KR" altLang="en-US" sz="1250" dirty="0">
                <a:solidFill>
                  <a:srgbClr val="6F6A78"/>
                </a:solidFill>
                <a:latin typeface="Noto Sans CJK KR" pitchFamily="34" charset="0"/>
              </a:rPr>
              <a:t>발표자 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</a:rPr>
              <a:t>: </a:t>
            </a:r>
            <a:r>
              <a:rPr lang="en-US" altLang="ko-KR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오한빈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권소라 · </a:t>
            </a:r>
            <a:r>
              <a:rPr lang="en-US" altLang="ko-KR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이서은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</a:t>
            </a:r>
            <a:r>
              <a:rPr lang="en-US" altLang="ko-KR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소성민</a:t>
            </a:r>
            <a:r>
              <a:rPr lang="en-US" altLang="ko-KR" sz="1250" dirty="0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</a:t>
            </a:r>
            <a:r>
              <a:rPr lang="en-US" altLang="ko-KR" sz="1250" dirty="0" err="1">
                <a:solidFill>
                  <a:srgbClr val="6F6A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박수진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발표 구성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94360" y="1938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DEEF3"/>
          </a:solidFill>
          <a:ln w="10160">
            <a:solidFill>
              <a:srgbClr val="D8C8FF"/>
            </a:solidFill>
            <a:prstDash val="solid"/>
          </a:ln>
          <a:effectLst>
            <a:outerShdw blurRad="403225000" dist="645160000"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01</a:t>
            </a:r>
          </a:p>
        </p:txBody>
      </p:sp>
      <p:sp>
        <p:nvSpPr>
          <p:cNvPr id="7" name="Text 5"/>
          <p:cNvSpPr/>
          <p:nvPr/>
        </p:nvSpPr>
        <p:spPr>
          <a:xfrm>
            <a:off x="1353312" y="2075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b="1" dirty="0"/>
              <a:t>프로젝트 개요  </a:t>
            </a:r>
            <a:r>
              <a:rPr lang="en-US" altLang="ko-KR" sz="1500" b="1" dirty="0"/>
              <a:t>·  </a:t>
            </a:r>
            <a:r>
              <a:rPr lang="ko-KR" altLang="en-US" sz="1500" b="1" dirty="0"/>
              <a:t>시연</a:t>
            </a:r>
            <a:endParaRPr sz="1500" b="1" dirty="0"/>
          </a:p>
        </p:txBody>
      </p:sp>
      <p:sp>
        <p:nvSpPr>
          <p:cNvPr id="8" name="Text 6"/>
          <p:cNvSpPr/>
          <p:nvPr/>
        </p:nvSpPr>
        <p:spPr>
          <a:xfrm>
            <a:off x="1353312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/>
              <a:t>팀 · 문제 · 경쟁 실측 · 지키는 원칙 · 시연 · 서비스 · 중간 이후 5주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938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5080" y="2258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02</a:t>
            </a:r>
          </a:p>
        </p:txBody>
      </p:sp>
      <p:sp>
        <p:nvSpPr>
          <p:cNvPr id="11" name="Text 9"/>
          <p:cNvSpPr/>
          <p:nvPr/>
        </p:nvSpPr>
        <p:spPr>
          <a:xfrm>
            <a:off x="6976872" y="2075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시스템 구조 · 데이터</a:t>
            </a:r>
          </a:p>
        </p:txBody>
      </p:sp>
      <p:sp>
        <p:nvSpPr>
          <p:cNvPr id="12" name="Text 10"/>
          <p:cNvSpPr/>
          <p:nvPr/>
        </p:nvSpPr>
        <p:spPr>
          <a:xfrm>
            <a:off x="6976872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/>
              <a:t>전체 구성 · 판정 흐름 · 데이터 · 전처리 · 숫자로 본 성과</a:t>
            </a:r>
          </a:p>
        </p:txBody>
      </p:sp>
      <p:sp>
        <p:nvSpPr>
          <p:cNvPr id="13" name="Shape 11"/>
          <p:cNvSpPr/>
          <p:nvPr/>
        </p:nvSpPr>
        <p:spPr>
          <a:xfrm>
            <a:off x="594360" y="3081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401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03</a:t>
            </a:r>
          </a:p>
        </p:txBody>
      </p:sp>
      <p:sp>
        <p:nvSpPr>
          <p:cNvPr id="15" name="Text 13"/>
          <p:cNvSpPr/>
          <p:nvPr/>
        </p:nvSpPr>
        <p:spPr>
          <a:xfrm>
            <a:off x="1353312" y="3218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판정 엔진</a:t>
            </a:r>
          </a:p>
        </p:txBody>
      </p:sp>
      <p:sp>
        <p:nvSpPr>
          <p:cNvPr id="16" name="Text 14"/>
          <p:cNvSpPr/>
          <p:nvPr/>
        </p:nvSpPr>
        <p:spPr>
          <a:xfrm>
            <a:off x="1353312" y="3547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/>
              <a:t>판정 코어 · 위험도 R0~R3 · 근거 → 위험도 · 믿을 수 있게 만든 장치 · 분기 · 인코더</a:t>
            </a:r>
          </a:p>
        </p:txBody>
      </p:sp>
      <p:sp>
        <p:nvSpPr>
          <p:cNvPr id="17" name="Shape 15"/>
          <p:cNvSpPr/>
          <p:nvPr/>
        </p:nvSpPr>
        <p:spPr>
          <a:xfrm>
            <a:off x="6217920" y="3081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3401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04</a:t>
            </a:r>
          </a:p>
        </p:txBody>
      </p:sp>
      <p:sp>
        <p:nvSpPr>
          <p:cNvPr id="19" name="Text 17"/>
          <p:cNvSpPr/>
          <p:nvPr/>
        </p:nvSpPr>
        <p:spPr>
          <a:xfrm>
            <a:off x="6976872" y="3218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재생성 · 생성</a:t>
            </a:r>
          </a:p>
        </p:txBody>
      </p:sp>
      <p:sp>
        <p:nvSpPr>
          <p:cNvPr id="20" name="Text 18"/>
          <p:cNvSpPr/>
          <p:nvPr/>
        </p:nvSpPr>
        <p:spPr>
          <a:xfrm>
            <a:off x="6976872" y="3547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/>
              <a:t>자체 sLLM 고쳐 쓰기 · 재생성 평가 · GPT 카피 생성 · 생성 결과</a:t>
            </a:r>
          </a:p>
        </p:txBody>
      </p:sp>
      <p:sp>
        <p:nvSpPr>
          <p:cNvPr id="21" name="Shape 19"/>
          <p:cNvSpPr/>
          <p:nvPr/>
        </p:nvSpPr>
        <p:spPr>
          <a:xfrm>
            <a:off x="594360" y="4224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544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05</a:t>
            </a:r>
          </a:p>
        </p:txBody>
      </p:sp>
      <p:sp>
        <p:nvSpPr>
          <p:cNvPr id="23" name="Text 21"/>
          <p:cNvSpPr/>
          <p:nvPr/>
        </p:nvSpPr>
        <p:spPr>
          <a:xfrm>
            <a:off x="1353312" y="4361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평가 · 한계</a:t>
            </a:r>
          </a:p>
        </p:txBody>
      </p:sp>
      <p:sp>
        <p:nvSpPr>
          <p:cNvPr id="24" name="Text 22"/>
          <p:cNvSpPr/>
          <p:nvPr/>
        </p:nvSpPr>
        <p:spPr>
          <a:xfrm>
            <a:off x="1353312" y="4690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/>
              <a:t>판정 평가 · 한계와 다음 단계</a:t>
            </a:r>
          </a:p>
        </p:txBody>
      </p:sp>
      <p:sp>
        <p:nvSpPr>
          <p:cNvPr id="25" name="Shape 23"/>
          <p:cNvSpPr/>
          <p:nvPr/>
        </p:nvSpPr>
        <p:spPr>
          <a:xfrm>
            <a:off x="6217920" y="422452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55080" y="4544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/>
              <a:t>PART 06</a:t>
            </a:r>
          </a:p>
        </p:txBody>
      </p:sp>
      <p:sp>
        <p:nvSpPr>
          <p:cNvPr id="27" name="Text 25"/>
          <p:cNvSpPr/>
          <p:nvPr/>
        </p:nvSpPr>
        <p:spPr>
          <a:xfrm>
            <a:off x="6976872" y="4361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 dirty="0" err="1"/>
              <a:t>배포</a:t>
            </a:r>
            <a:r>
              <a:rPr sz="1500" b="1" dirty="0"/>
              <a:t> · </a:t>
            </a:r>
            <a:r>
              <a:rPr sz="1500" b="1" dirty="0" err="1"/>
              <a:t>운영</a:t>
            </a:r>
            <a:endParaRPr sz="1500" b="1" dirty="0"/>
          </a:p>
        </p:txBody>
      </p:sp>
      <p:sp>
        <p:nvSpPr>
          <p:cNvPr id="28" name="Text 26"/>
          <p:cNvSpPr/>
          <p:nvPr/>
        </p:nvSpPr>
        <p:spPr>
          <a:xfrm>
            <a:off x="6976872" y="4690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/>
              <a:t>AWS 배포 · 협업 · 런처 · Google Drive 공유</a:t>
            </a: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757D177-F841-2610-413D-2567BFC78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200" b="1" dirty="0"/>
              <a:t>프로젝트 개요  </a:t>
            </a:r>
            <a:r>
              <a:rPr lang="en-US" altLang="ko-KR" sz="3200" b="1" dirty="0"/>
              <a:t>·  </a:t>
            </a:r>
            <a:r>
              <a:rPr lang="ko-KR" altLang="en-US" sz="3200" b="1" dirty="0"/>
              <a:t>시연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8138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팀원 분담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판정 코어는 하나로 두고, 데이터 · 화면 · 생성 · 모델 · 배포를 나눠 병렬로 진행했습니다.</a:t>
            </a:r>
          </a:p>
        </p:txBody>
      </p:sp>
      <p:sp>
        <p:nvSpPr>
          <p:cNvPr id="35" name="Text 33"/>
          <p:cNvSpPr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>
                <a:solidFill>
                  <a:srgbClr val="9E97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README 「팀 한끗」 · 각자 브랜치(ohb · ksr · lse · ssm · psj) 작업 기록</a:t>
            </a: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50996B84-EB22-646B-4E86-0D0B0C4E811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530352" y="1810512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30352" y="1810512"/>
            <a:ext cx="5486400" cy="6400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86384" y="201168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오한빈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86384" y="246888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팀장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6384" y="2907791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데이터 수집 · 판정 코어 · 판정 그래프 · 데이터 파이프라인 · DB 설계 · 거버넌스 게이트 · 평가 · 협업 환경(런처 · 공유 저장소) · 운영 · CI · 보안 · 문서 · 통합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296D693D-7C2C-23D2-D07E-94EA344058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flipH="1">
            <a:off x="4894591" y="1938528"/>
            <a:ext cx="939280" cy="868680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6172200" y="1810512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172200" y="1810512"/>
            <a:ext cx="5486400" cy="64008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28232" y="201168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권소라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428232" y="24688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카피 생성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28232" y="2907791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사용자 화면 · 카피 생성 엔진 · 데이터 수집 · 서비스 테스트 · 도메인 제안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2EC0AB1A-0BC9-2801-47B6-9753A6F81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07040" y="1938528"/>
            <a:ext cx="868680" cy="868680"/>
          </a:xfrm>
          <a:prstGeom prst="rect">
            <a:avLst/>
          </a:prstGeom>
        </p:spPr>
      </p:pic>
      <p:sp>
        <p:nvSpPr>
          <p:cNvPr id="127" name="Rounded Rectangle 126"/>
          <p:cNvSpPr/>
          <p:nvPr/>
        </p:nvSpPr>
        <p:spPr>
          <a:xfrm>
            <a:off x="530352" y="4096512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0352" y="4096512"/>
            <a:ext cx="3611880" cy="64008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86384" y="42976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이서은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86384" y="47548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고쳐 쓰기 · sLLM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6384" y="5193792"/>
            <a:ext cx="3154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사용자 화면 · 대체 문구 생성(고쳐 쓰기) · 자체 sLLM 파인튜닝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E2D9001-0E26-62B2-68F0-8A34BD5EFF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04609" y="4224528"/>
            <a:ext cx="1154742" cy="868680"/>
          </a:xfrm>
          <a:prstGeom prst="rect">
            <a:avLst/>
          </a:prstGeom>
        </p:spPr>
      </p:pic>
      <p:sp>
        <p:nvSpPr>
          <p:cNvPr id="132" name="Rounded Rectangle 131"/>
          <p:cNvSpPr/>
          <p:nvPr/>
        </p:nvSpPr>
        <p:spPr>
          <a:xfrm>
            <a:off x="4288536" y="4096512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288536" y="4096512"/>
            <a:ext cx="3611880" cy="64008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44568" y="42976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소성민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544568" y="4754880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배포 · 리소스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44568" y="5193792"/>
            <a:ext cx="3154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관리자 화면 · 배포 · 리소스 관리(주담당) · 판정 인코더 파인튜닝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6B60260-C2C0-19FF-0A12-DC622BE45D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56948" y="4224528"/>
            <a:ext cx="1060587" cy="868680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8046720" y="4096512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046720" y="4096512"/>
            <a:ext cx="3611880" cy="64008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302752" y="42976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박수진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302752" y="47548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판정 인코더 · 화면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02752" y="5193792"/>
            <a:ext cx="3154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관리자 화면 · 사용자 화면 · 판정 인코더 파인튜닝(채택 판 D4-20)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33CA6E20-DD7D-6F38-D495-D64DC07397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50562" y="4224528"/>
            <a:ext cx="925157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057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이 광고 멘트, 위법일까요?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중간 발표에서 말씀드린 문제입니다. 아래 세 문장은 모두 CopyLane 판정 코어로 실제로 검수한 결과입니다.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32644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94C65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18541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27685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D94C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식품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“고혈압 예방에 효과적인 오미자청”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4C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질병 예방 · 치료 표방 — 쓸 수 </a:t>
            </a:r>
            <a:r>
              <a:rPr lang="en-US" sz="1250" b="1" dirty="0" err="1">
                <a:solidFill>
                  <a:srgbClr val="D94C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9664" y="2011680"/>
            <a:ext cx="32644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E1306C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70832" y="218541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43984" y="227685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비교 표현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8264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“국내 판매 1위 오미자청”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98264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근거 자료 필요 — 사실 확인 질문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2011680"/>
            <a:ext cx="32644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E1306C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19288" y="218541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92440" y="227685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화장품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“아토피 치료에 효과적인 보습 로션”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의약품 오인 — 쓸 수 </a:t>
            </a:r>
            <a:r>
              <a:rPr lang="en-US" sz="1250" b="1" dirty="0" err="1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없음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3840480"/>
            <a:ext cx="3264408" cy="868680"/>
          </a:xfrm>
          <a:prstGeom prst="roundRect">
            <a:avLst>
              <a:gd name="adj" fmla="val 8421"/>
            </a:avLst>
          </a:prstGeom>
          <a:solidFill>
            <a:srgbClr val="FDEEF3"/>
          </a:solidFill>
          <a:ln w="10160">
            <a:solidFill>
              <a:srgbClr val="F3E0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4944" y="41285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26개 업체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947672" y="40462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2026.07 다이어트식품 부당광고 적발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9664" y="3840480"/>
            <a:ext cx="3264408" cy="868680"/>
          </a:xfrm>
          <a:prstGeom prst="roundRect">
            <a:avLst>
              <a:gd name="adj" fmla="val 8421"/>
            </a:avLst>
          </a:prstGeom>
          <a:solidFill>
            <a:srgbClr val="FDEEF3"/>
          </a:solidFill>
          <a:ln w="10160">
            <a:solidFill>
              <a:srgbClr val="F3E0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34256" y="41285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16.5만원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586984" y="40462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1건 전문 심의 비용 (3만 원부터 · 최대)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08976" y="3840480"/>
            <a:ext cx="3264408" cy="868680"/>
          </a:xfrm>
          <a:prstGeom prst="roundRect">
            <a:avLst>
              <a:gd name="adj" fmla="val 8421"/>
            </a:avLst>
          </a:prstGeom>
          <a:solidFill>
            <a:srgbClr val="FFF0F7"/>
          </a:solidFill>
          <a:ln w="10160">
            <a:solidFill>
              <a:srgbClr val="F3E0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973568" y="41285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178건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26296" y="40462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2026.07 화장품 온라인 허위 · 과대광고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4956048"/>
            <a:ext cx="10917936" cy="987552"/>
          </a:xfrm>
          <a:prstGeom prst="roundRect">
            <a:avLst>
              <a:gd name="adj" fmla="val 7407"/>
            </a:avLst>
          </a:prstGeom>
          <a:solidFill>
            <a:srgbClr val="2C2634"/>
          </a:solidFill>
          <a:ln w="10160">
            <a:solidFill>
              <a:srgbClr val="2C2634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86384" y="5349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B9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NOW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5294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규제 집행은 자동화되고, 광고 제작 속도는 빨라지고 있습니다.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47688" y="5294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D5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 문제는 ‘올린 뒤 수정’이 아니라 ‘올리기 전 검수’입니다.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7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Sources: 2026.07.23 · 07.24 식약처 발표 · 점검 인용 보도 · 중간발표 「시장 조사 &amp; BM 가설」(심의 비용) · 예시 문구 판정 = CopyLane 판정 코어 POST /judge 2026-10-22</a:t>
            </a:r>
            <a:endParaRPr lang="en-US" sz="6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13E791A-A3D6-0DD8-FE86-E4DD72941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526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34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시장 조사 &amp; BM 가설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경제성 + 규제 강도 + 반복 업무라는 세 가지 근거로 “사전 검수” 수요를 설명합니다.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9659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E4DEEA"/>
            </a:solidFill>
            <a:prstDash val="solid"/>
          </a:ln>
          <a:effectLst>
            <a:outerShdw algn="bl" rotWithShape="0">
              <a:srgbClr val="B7AFC4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217627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F4E7"/>
          </a:solidFill>
          <a:ln w="12700">
            <a:solidFill>
              <a:srgbClr val="FFF4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62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경제성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전문 심의는</a:t>
            </a:r>
            <a:endParaRPr lang="en-US" sz="1620" dirty="0"/>
          </a:p>
          <a:p>
            <a:pPr marL="0" indent="0">
              <a:buNone/>
            </a:pPr>
            <a:r>
              <a:rPr lang="en-US" sz="162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건별 비용 구조입니다.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749808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62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3만원   ~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4096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건기식 표시·광고 심의 시작 구간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258568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62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16.5만원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58568" y="40965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기능성 표시식품 광고 1건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49807" y="4709160"/>
            <a:ext cx="30477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카피는 출고 전 반복 수정됩니다.</a:t>
            </a:r>
            <a:endParaRPr lang="en-US" sz="880" b="1" dirty="0"/>
          </a:p>
          <a:p>
            <a:pPr marL="0" indent="0">
              <a:buNone/>
            </a:pPr>
            <a:r>
              <a:rPr lang="en-US" sz="1100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→ 재심의는 무료지만, 반려되면 다음 회차를 기다립니다 — 반복에서 드는 것은 시간입니다.</a:t>
            </a:r>
            <a:endParaRPr lang="en-US" sz="880" b="1" dirty="0"/>
          </a:p>
        </p:txBody>
      </p:sp>
      <p:sp>
        <p:nvSpPr>
          <p:cNvPr id="14" name="Shape 12"/>
          <p:cNvSpPr/>
          <p:nvPr/>
        </p:nvSpPr>
        <p:spPr>
          <a:xfrm>
            <a:off x="4187952" y="19659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E4DEEA"/>
            </a:solidFill>
            <a:prstDash val="solid"/>
          </a:ln>
          <a:effectLst>
            <a:outerShdw algn="bl" rotWithShape="0">
              <a:srgbClr val="B7AFC4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407408" y="217627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80560" y="22677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4C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규제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407408" y="26700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실수의 비용은</a:t>
            </a:r>
            <a:endParaRPr lang="en-US" sz="1620" dirty="0"/>
          </a:p>
          <a:p>
            <a:pPr marL="0" indent="0">
              <a:buNone/>
            </a:pPr>
            <a:r>
              <a:rPr lang="en-US" sz="162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단순 반려가 아닙니다.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4407408" y="35844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C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최대 10년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07408" y="402336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식품표시광고법 제26조</a:t>
            </a:r>
            <a:endParaRPr lang="en-US" sz="830" dirty="0"/>
          </a:p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일부 부당 표시·광고의 형사처벌 구간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407408" y="472744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 식약처 추진계획: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온라인</a:t>
            </a:r>
            <a:r>
              <a:rPr lang="en-US" sz="11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부당광고에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“실시간 AI 감시” 등 신속 차단 강화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45552" y="196596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2E2837"/>
          </a:solidFill>
          <a:ln w="10160">
            <a:solidFill>
              <a:srgbClr val="2E2837"/>
            </a:solidFill>
            <a:prstDash val="solid"/>
          </a:ln>
          <a:effectLst>
            <a:outerShdw algn="bl" rotWithShape="0">
              <a:srgbClr val="B7AFC4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083296" y="217627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B3A59"/>
          </a:solidFill>
          <a:ln w="12700">
            <a:solidFill>
              <a:srgbClr val="4B3A5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56448" y="224485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BM 가설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083296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무료 검수 → 팀 업무 → 기업 구축</a:t>
            </a:r>
            <a:endParaRPr lang="en-US" sz="1470" dirty="0"/>
          </a:p>
        </p:txBody>
      </p:sp>
      <p:sp>
        <p:nvSpPr>
          <p:cNvPr id="25" name="Shape 23"/>
          <p:cNvSpPr/>
          <p:nvPr/>
        </p:nvSpPr>
        <p:spPr>
          <a:xfrm>
            <a:off x="8083296" y="3310128"/>
            <a:ext cx="841248" cy="329184"/>
          </a:xfrm>
          <a:prstGeom prst="roundRect">
            <a:avLst/>
          </a:prstGeom>
          <a:solidFill>
            <a:srgbClr val="7B4C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083296" y="341985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9079992" y="33741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근거 조문 포함 1차 검수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8083296" y="3931920"/>
            <a:ext cx="841248" cy="329184"/>
          </a:xfrm>
          <a:prstGeom prst="roundRect">
            <a:avLst/>
          </a:prstGeom>
          <a:solidFill>
            <a:srgbClr val="E252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083296" y="404164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9079992" y="39959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배치 검수 · 승인 문구 원장 · 재검증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083296" y="4553712"/>
            <a:ext cx="841248" cy="329184"/>
          </a:xfrm>
          <a:prstGeom prst="roundRect">
            <a:avLst/>
          </a:prstGeom>
          <a:solidFill>
            <a:srgbClr val="5A52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083296" y="466344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9079992" y="461772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기업 전용 버전 · 조직 정책 연동</a:t>
            </a:r>
          </a:p>
        </p:txBody>
      </p:sp>
      <p:sp>
        <p:nvSpPr>
          <p:cNvPr id="34" name="Text 32"/>
          <p:cNvSpPr/>
          <p:nvPr/>
        </p:nvSpPr>
        <p:spPr>
          <a:xfrm>
            <a:off x="8083296" y="51206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1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※ 가격 미확정 · 확정된 것은 이중 에디션(기업 전용 / 셀러용)과 과금 경계 = sLLM 사용 여부(D-69) · 3단은 가설, 지불의사 검증 후 확정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7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공식 근거: 국가법령정보센터 식품표시광고법 제26조 · 식약처 2026 추진계획 · 한국건강기능식품협회/한국식품산업협회 심의 수수료</a:t>
            </a:r>
            <a:endParaRPr lang="en-US" sz="6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B8350EF-C45D-1420-268B-5D7E22A0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347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같은 문구, 다른 결과 — 「위암 치료」를 놓친 도구와 잡은 CopyLane</a:t>
            </a:r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「위암치료에 최고인 양파즙」을 두 도구에 넣었습니다. 경쟁 도구는 「최고」만 잡았고, 형사처벌 사유인 질병 치료 표방은 지나쳤습니다.</a:t>
            </a:r>
          </a:p>
        </p:txBody>
      </p:sp>
      <p:sp>
        <p:nvSpPr>
          <p:cNvPr id="35" name="Text 33"/>
          <p:cNvSpPr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E97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프로젝트 기획서 §3-2 경쟁 실측 (2026-08-30) · CopyLane 사용자 화면 2026-10-21 · 설계결정기록 D-81 · D-82</a:t>
            </a: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B8350EF-C45D-1420-268B-5D7E22A0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  <p:sp>
        <p:nvSpPr>
          <p:cNvPr id="43" name="Text"/>
          <p:cNvSpPr txBox="1"/>
          <p:nvPr/>
        </p:nvSpPr>
        <p:spPr>
          <a:xfrm>
            <a:off x="749808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95" y="2212848"/>
            <a:ext cx="5113288" cy="3611880"/>
          </a:xfrm>
          <a:prstGeom prst="rect">
            <a:avLst/>
          </a:prstGeom>
        </p:spPr>
      </p:pic>
      <p:pic>
        <p:nvPicPr>
          <p:cNvPr id="45" name="Picture 44" descr="image9.png"/>
          <p:cNvPicPr>
            <a:picLocks noChangeAspect="1"/>
          </p:cNvPicPr>
          <p:nvPr/>
        </p:nvPicPr>
        <p:blipFill>
          <a:blip r:embed="rId5"/>
          <a:srcRect l="44500"/>
          <a:stretch>
            <a:fillRect/>
          </a:stretch>
        </p:blipFill>
        <p:spPr>
          <a:xfrm>
            <a:off x="6695444" y="2212848"/>
            <a:ext cx="4394191" cy="361188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502920" y="1828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F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경쟁 도구 A · 2026-08-30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1828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CopyLane · 같은 문구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704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「최고」만 잡고 「우수한」으로 안내  </a:t>
            </a: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「위암 치료」는 통과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87044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사용 불가 · 질병 예방치료 표방 · R2  </a:t>
            </a: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근거 식품표시광고법 제8조제1항제1호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우리가 지키는 네 가지 — 더 많이 잡기보다, 틀리게 통과시키지 않기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이름의 Lane 은 차선입니다. 차선은 우리가 긋지 않고 법령이 긋습니다 — 문구는 그 안에서만 움직입니다.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「우리가 지키는 네 가지」 · D-340 결정 6(위반을 못 찾은 것은 통과가 아니다) · D-51 · D-220(fail-closed)</a:t>
            </a:r>
          </a:p>
        </p:txBody>
      </p:sp>
      <p:pic>
        <p:nvPicPr>
          <p:cNvPr id="149" name="Picture 148" descr="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824288"/>
            <a:ext cx="11128248" cy="3264286"/>
          </a:xfrm>
          <a:prstGeom prst="rect">
            <a:avLst/>
          </a:prstGeom>
        </p:spPr>
      </p:pic>
      <p:sp>
        <p:nvSpPr>
          <p:cNvPr id="150" name="Rounded Rectangle 149"/>
          <p:cNvSpPr/>
          <p:nvPr/>
        </p:nvSpPr>
        <p:spPr>
          <a:xfrm>
            <a:off x="530352" y="5230368"/>
            <a:ext cx="11128248" cy="960120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" y="5230368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그래서  </a:t>
            </a:r>
            <a:r>
              <a:rPr sz="14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더 많이 잡는 것보다 틀리게 통과시키지 않는 것을 먼저 택했습니다. 위반을 못 찾은 문구는 「적법」이 아니라 「보류」이고, 확신이 서지 않으면 무엇이 더 필요한지 묻습니다.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608B5D-A40E-8FA5-515D-54D8554186D9}"/>
              </a:ext>
            </a:extLst>
          </p:cNvPr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2E4892-4BE8-EA45-1C0B-1CC5D250B4E3}"/>
              </a:ext>
            </a:extLst>
          </p:cNvPr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>
                <a:solidFill>
                  <a:srgbClr val="201D29"/>
                </a:solidFill>
                <a:latin typeface="Noto Sans" pitchFamily="34" charset="0"/>
                <a:cs typeface="Noto Sans" pitchFamily="34" charset="-120"/>
              </a:rPr>
              <a:t>시연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35354D-6728-95FA-8E0C-71970B60DC2C}"/>
              </a:ext>
            </a:extLst>
          </p:cNvPr>
          <p:cNvSpPr/>
          <p:nvPr/>
        </p:nvSpPr>
        <p:spPr>
          <a:xfrm>
            <a:off x="566928" y="2313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 시연 · 4분 49초 (더빙)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394DA0-AD08-C168-82C3-459F546DE855}"/>
              </a:ext>
            </a:extLst>
          </p:cNvPr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63EF93-B43B-C94B-A93E-C4FBF6E21073}"/>
              </a:ext>
            </a:extLst>
          </p:cNvPr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4C69F4-F18A-6DB4-A0B9-5F3410B22DF2}"/>
              </a:ext>
            </a:extLst>
          </p:cNvPr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4691319-047E-2626-6626-267BDA892D96}"/>
              </a:ext>
            </a:extLst>
          </p:cNvPr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55B765C-EBEC-6AEE-163E-F172B4C5BBD5}"/>
              </a:ext>
            </a:extLst>
          </p:cNvPr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7E77A7C-F4CF-5A52-D3D8-F0D3F1E59362}"/>
              </a:ext>
            </a:extLst>
          </p:cNvPr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C1F2B0D-1B8F-E8BE-9882-A04413A3C904}"/>
              </a:ext>
            </a:extLst>
          </p:cNvPr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F7DC3F-1120-0629-966B-303EF74125AF}"/>
              </a:ext>
            </a:extLst>
          </p:cNvPr>
          <p:cNvSpPr/>
          <p:nvPr/>
        </p:nvSpPr>
        <p:spPr>
          <a:xfrm>
            <a:off x="566928" y="5440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“지금까지 말씀드린 것을, 실제 화면으로 보여 드리겠습니다.”</a:t>
            </a:r>
            <a:endParaRPr lang="en-US" sz="1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6A2EA62-1412-65D6-A1CF-5CB06755E1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B081B7E-9F75-E24E-1A6A-C2BE998DA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66928" y="2971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시연 순서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문구 검수 — 유형 · 추가 정보 분기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② 결과 · 근거 조문 · 자체 sLLM 고쳐 쓰기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③ 사실 확인 질문 → 답으로 재판정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④ 카피 생성 A · B · C안 → 더 탐색하기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⑤ AI 광고 생성 → 검수 이력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⑥ 관리자 콘솔 — 운영 · 통계 · 판정 근거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94560"/>
            <a:ext cx="5394960" cy="3371850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989320" y="563956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▶ 시연 영상은 별도 파일 (CopyLane_시연영상_더빙v4.mp4)</a:t>
            </a:r>
          </a:p>
        </p:txBody>
      </p:sp>
    </p:spTree>
    <p:extLst>
      <p:ext uri="{BB962C8B-B14F-4D97-AF65-F5344CB8AC3E}">
        <p14:creationId xmlns:p14="http://schemas.microsoft.com/office/powerpoint/2010/main" val="13146555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서비스 한눈에 ① — 검수하고, 고쳐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문구를 넣으면 문장마다 위법 소지와 근거 조문을 보여 주고, 지적 문장은 자체 sLLM이 고쳐 씁니다.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화면: CopyLane 사용자 화면 2026-10-21 (시연 계정) · 서비스 copylane.site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208483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2153064"/>
            <a:ext cx="4663440" cy="2292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9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문구 검수</a:t>
            </a:r>
            <a:endParaRPr sz="1490" b="1" dirty="0">
              <a:solidFill>
                <a:srgbClr val="201D29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19" y="248716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문장마다 사용 불가 · 조건부 · 확인 필요 · 통과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584" y="2880360"/>
            <a:ext cx="3043936" cy="3108960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6172200" y="196596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208483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2084831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고쳐 쓰기 (자체 sLLM)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248716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위반만 지우고 처음부터 다시 판정 — 위반이 붙은 안은 빼고 보여 줌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511" y="2880360"/>
            <a:ext cx="3749776" cy="3108960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cxnSp>
        <p:nvCxnSpPr>
          <p:cNvPr id="46" name="Connector 45"/>
          <p:cNvCxnSpPr/>
          <p:nvPr/>
        </p:nvCxnSpPr>
        <p:spPr>
          <a:xfrm>
            <a:off x="6035040" y="4023360"/>
            <a:ext cx="118872" cy="0"/>
          </a:xfrm>
          <a:prstGeom prst="line">
            <a:avLst/>
          </a:prstGeom>
          <a:ln w="25400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서비스 한눈에 ② — 새로 만들고, 광고로 얹는다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제품 정보만 넣으면 판정 코어를 지난 A안 · B안 · C안을 만들고, 고른 카피는 광고 시안으로 이어집니다.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화면: CopyLane 사용자 화면 2026-10-21 (시연 계정)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208483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2153064"/>
            <a:ext cx="4663440" cy="2292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9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카피 생성</a:t>
            </a:r>
            <a:endParaRPr sz="1490" b="1" dirty="0">
              <a:solidFill>
                <a:srgbClr val="201D29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19" y="248716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GPT 후보 → 코드 필터 → 판정 → A안 · B안 · C안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880360"/>
            <a:ext cx="5157216" cy="2127351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6172200" y="196596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208483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2084831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AI 광고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248716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SNS 피드 · 상세 · 배너 — 칸을 고치면 다시 검수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880360"/>
            <a:ext cx="5157216" cy="2675305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cxnSp>
        <p:nvCxnSpPr>
          <p:cNvPr id="46" name="Connector 45"/>
          <p:cNvCxnSpPr/>
          <p:nvPr/>
        </p:nvCxnSpPr>
        <p:spPr>
          <a:xfrm>
            <a:off x="6035040" y="4023360"/>
            <a:ext cx="118872" cy="0"/>
          </a:xfrm>
          <a:prstGeom prst="line">
            <a:avLst/>
          </a:prstGeom>
          <a:ln w="25400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중간 발표 이후 5주 — 설계도에서 돌아가는 서비스로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9월 15일에는 설계와 뼈대를 보여 드렸습니다. 지금은 검수부터 광고 시안까지 실제로 돕니다.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중간발표 「2주차 최종 산출물 기준 진행 현황」(2026-09-10 실측) · 사실원장 10-21(B) ⑥ · 10-22(A) ① · ssm 서비스 테스트 결과보고서 10-22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11128248" cy="384048"/>
          </a:xfrm>
          <a:prstGeom prst="roundRect">
            <a:avLst>
              <a:gd name="adj" fmla="val 2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192024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영역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19202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중간 발표 (09-15)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192024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지금 (10-22)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2395728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2395728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2032" y="239572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/judge = 501 · 엔진 미연결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50992" y="2660904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99632" y="2395728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검수 그래프 실가동 — 규칙 판정 · 인코더 · 품목 분기 · 질문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2999232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2999232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· 위험도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42032" y="299923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근거 조문 0행 · 제재표 미적재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50992" y="3264408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99632" y="2999232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조문 연결 · 2인이 서명한 제재표 38행으로 위험도 R0~R3 · 어휘 + 벡터 검색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3602736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2" y="3602736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데이터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3602736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골든 1,908 · 청크 2,585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50992" y="3867912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99632" y="3602736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골든 8,383 · 금지 표현 사전 4,342 · 조문 청크 6,686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206240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" y="420624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재생성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2032" y="420624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sLLM 1차 실험(35쌍 · 과적합)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50992" y="4471416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199632" y="4206240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Qwen3-4B + LoRA · 관문 · 후처리 · 재판정 · 위반 포장 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" y="4809744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2" y="4809744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생성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2032" y="480974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생성 그래프 설계 · 501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50992" y="5074920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199632" y="4809744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카피 생성 A안 · B안 · C안 + 더 탐색하기 · AI 광고 시안(SNS · 상세 · 배너)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5413248"/>
            <a:ext cx="1112824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" y="5413248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화면 · 운영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42032" y="541324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HTML 프로토타입 · 고정 응답 14건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650992" y="5678424"/>
            <a:ext cx="36576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99632" y="5413248"/>
            <a:ext cx="5303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copylane.site HTTPS 배포 · 사용자 · 관리자 화면 · 자동 테스트 3,429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시스템 구조 ·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&amp;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전체 구성 — 입구는 셋, 판정 코어는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사용자 · 관리자 → HTTPS → FastAPI 앱 하나 → DB. 모델 셋은 잠금 파일이 판을 정하고, 외부 GPT 는 카피 후보를 쓰는 데만 씁니다.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 (FastAPI · LangGraph) · docs/lse/sllm_service.py · models.lock.json · 배포절차서 · 산출물 13 시스템 구성도 S-01 · D-78 · D-119 · D-333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10512"/>
            <a:ext cx="11128248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66520"/>
            <a:ext cx="10945368" cy="40953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광고 한 줄이 판정되는 길 — 읽기 · 잡기 · 법별 판정 · 묻기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품목을 몰라도 시작합니다. 두 판단 주체가 위반을 잡고, 법마다 따로 판정한 뒤, 모르는 사실은 질문으로 받습니다.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「어떻게 동작하나」 · app/graph.py (순서의 정본) · D-319 · D-323 · D-340 결정 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10512"/>
            <a:ext cx="111282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hi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490" y="1865376"/>
            <a:ext cx="9885970" cy="43251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다중 에이전트 처리 흐름 — 판정 코어는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진입점은 셋이지만 어디로 들어오든 같은 판정 코어를 지납니다. 생성도, 고쳐 쓴 문장도 같은 기준으로 다시 잽니다.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「해법」 · app/graph.py · D-119 · D-266 · D-332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3232" y="21945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1945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21214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문구 검수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2423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사용자가 쓴 문구를 문장 단위로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91840" y="2395728"/>
            <a:ext cx="502920" cy="896112"/>
          </a:xfrm>
          <a:prstGeom prst="line">
            <a:avLst/>
          </a:prstGeom>
          <a:ln w="15875">
            <a:solidFill>
              <a:srgbClr val="C9B8C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30352" y="2990088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13232" y="321868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C1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32186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31455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카피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1872" y="344728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제품 정보 → GPT 후보 → 코드 필터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3291840" y="3291840"/>
            <a:ext cx="502920" cy="128016"/>
          </a:xfrm>
          <a:prstGeom prst="line">
            <a:avLst/>
          </a:prstGeom>
          <a:ln w="15875">
            <a:solidFill>
              <a:srgbClr val="C9B8C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30352" y="4014216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13232" y="4242816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24281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61872" y="4169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AI 광고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1872" y="447141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고른 카피를 지면(SNS · 상세 · 배너)에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291840" y="3291840"/>
            <a:ext cx="502920" cy="1152144"/>
          </a:xfrm>
          <a:prstGeom prst="line">
            <a:avLst/>
          </a:prstGeom>
          <a:ln w="15875">
            <a:solidFill>
              <a:srgbClr val="C9B8C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840480" y="1965960"/>
            <a:ext cx="4526280" cy="292608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524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69080" y="210312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공용 판정 코어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9080" y="239572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LangGraph 서브그래프 하나 — 검수 · 생성이 같은 것을 부른다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69080" y="2788920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69080" y="2788920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문장 분할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68112" y="2788920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68112" y="2788920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적용 법 고르기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67144" y="2788920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67144" y="2788920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검색 (벡터+어휘)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69080" y="3319272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69080" y="3319272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금지 표현 사전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68112" y="3319272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68112" y="3319272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 인코더 (KC-BERT)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67144" y="3319272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67144" y="3319272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법별 판정 (3법 동시)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069080" y="3849624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69080" y="3849624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규칙 판정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68112" y="3849624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68112" y="3849624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위험도 하한 (제재표)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67144" y="3849624"/>
            <a:ext cx="130759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67144" y="3849624"/>
            <a:ext cx="130759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 분기 · 질문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12480" y="3429000"/>
            <a:ext cx="50292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961120" y="196596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89720" y="21031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결과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25146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보류</a:t>
            </a:r>
          </a:p>
          <a:p>
            <a:pPr algn="l"/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근거 · 전제가 모자라면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89720" y="30632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 dirty="0" err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증명서</a:t>
            </a:r>
            <a:endParaRPr sz="1310" b="1" dirty="0">
              <a:solidFill>
                <a:srgbClr val="F59BB9"/>
              </a:solidFill>
              <a:latin typeface="Noto Sans"/>
              <a:ea typeface="Noto Sans"/>
              <a:cs typeface="Noto Sans"/>
            </a:endParaRPr>
          </a:p>
          <a:p>
            <a:pPr algn="l"/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위반</a:t>
            </a:r>
            <a:r>
              <a:rPr sz="1250" b="0" dirty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근거</a:t>
            </a:r>
            <a:r>
              <a:rPr sz="1250" b="0" dirty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조문</a:t>
            </a:r>
            <a:r>
              <a:rPr sz="1250" b="0" dirty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위험도</a:t>
            </a:r>
            <a:endParaRPr sz="1100" b="0" dirty="0">
              <a:solidFill>
                <a:srgbClr val="CFC8D6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189720" y="36118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 dirty="0" err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지시</a:t>
            </a:r>
            <a:endParaRPr sz="1310" b="1" dirty="0">
              <a:solidFill>
                <a:srgbClr val="F59BB9"/>
              </a:solidFill>
              <a:latin typeface="Noto Sans"/>
              <a:ea typeface="Noto Sans"/>
              <a:cs typeface="Noto Sans"/>
            </a:endParaRPr>
          </a:p>
          <a:p>
            <a:pPr algn="l"/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실증이</a:t>
            </a:r>
            <a:r>
              <a:rPr sz="1250" b="0" dirty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필요한</a:t>
            </a:r>
            <a:r>
              <a:rPr sz="1250" b="0" dirty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표현</a:t>
            </a:r>
            <a:endParaRPr sz="1100" b="0" dirty="0">
              <a:solidFill>
                <a:srgbClr val="CFC8D6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89720" y="41605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 dirty="0" err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통과</a:t>
            </a:r>
            <a:endParaRPr sz="1310" b="1" dirty="0">
              <a:solidFill>
                <a:srgbClr val="F59BB9"/>
              </a:solidFill>
              <a:latin typeface="Noto Sans"/>
              <a:ea typeface="Noto Sans"/>
              <a:cs typeface="Noto Sans"/>
            </a:endParaRPr>
          </a:p>
          <a:p>
            <a:pPr algn="l"/>
            <a:r>
              <a:rPr sz="1250" b="0" dirty="0" err="1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모든 문장 확정 ∧ R0 일 때만</a:t>
            </a:r>
            <a:endParaRPr sz="1100" b="0" dirty="0">
              <a:solidFill>
                <a:srgbClr val="CFC8D6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840480" y="5029200"/>
            <a:ext cx="7818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023360" y="52669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3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023360" y="526694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재생성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502920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자체 sLLM 고쳐 쓰기 — 지적 문장을 Qwen3-4B + LoRA 가 고치고, 관문 · 후처리를 지나 판정 코어로 처음부터 다시 판정 → 위반이 붙은 안은 뺀다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30352" y="5870448"/>
            <a:ext cx="11128248" cy="384048"/>
          </a:xfrm>
          <a:prstGeom prst="roundRect">
            <a:avLst>
              <a:gd name="adj" fmla="val 12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77240" y="587044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설계 원칙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11680" y="5870448"/>
            <a:ext cx="9418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판정은 코어 하나 · 외부 생성 API는 「생성」에만 쓰고 판정에는 쓰지 않는다 (D-78)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18185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데이터 — 근거가 되는 것만, 근거가 되는 곳에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법령 · 고시 · 심의 사례를 등급 × 용도 게이트로 걸러 학습 · 검색 · 판정 재료로 나눴습니다.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원장 10-22(A) · 레지스트리(data_sources.yaml) · /health 적재 수 10-22 · collect/registry.py · D-40 · D-71 · D-193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212140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26243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데이터 소스 등재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907792"/>
            <a:ext cx="1737360" cy="8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수집 45 · 보류 15 · 수기 10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DB 적재 53 · 2인 확인 전은 적재 안 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19202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71800" y="212140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8,383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26243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골든셋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2907792"/>
            <a:ext cx="1737360" cy="8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 5,894 · 평가 2,489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봉인 평가셋 1,141 은 아직 열지 않음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47488" y="19202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212140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4,342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26243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금지 표현 사전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2907792"/>
            <a:ext cx="1737360" cy="8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단독 확정 자격 4,189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의결서 · 해설서 · 사례집에서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06056" y="19202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88936" y="212140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6,686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88936" y="26243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조문 청크 · 임베딩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88936" y="2907792"/>
            <a:ext cx="1737360" cy="8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법령 2,943 · 별표 3,743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KURE-v1 1024차원 · pgvector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64624" y="1920240"/>
            <a:ext cx="2103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47504" y="212140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7504" y="26243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제재표 (2인 서명)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7504" y="2907792"/>
            <a:ext cx="1737360" cy="8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위험도 하한은 표에서만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모델이 낮출 수 없다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" y="3977639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" y="4114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검색 — 하이브리드 한 순위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8" y="4572000"/>
            <a:ext cx="1051560" cy="11887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4663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벡터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498348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pgvector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KURE-v1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819655" y="5166360"/>
            <a:ext cx="210312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048255" y="4572000"/>
            <a:ext cx="1051560" cy="11887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48255" y="4663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어휘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48255" y="498348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ts_rank_cd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생성열 tsv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118103" y="5166360"/>
            <a:ext cx="210312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3346703" y="4572000"/>
            <a:ext cx="1051560" cy="11887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46703" y="4663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RRF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46703" y="498348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두 순위를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하나로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416552" y="5166360"/>
            <a:ext cx="210312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4645152" y="4572000"/>
            <a:ext cx="1051560" cy="11887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45152" y="4663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근거 보기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5152" y="4983480"/>
            <a:ext cx="1051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조문 인용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99632" y="3977639"/>
            <a:ext cx="5458968" cy="210312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46520" y="4114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거버넌스는 코드 안에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4526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28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등록부에 없거나 배제된 원천은 수집 자체가 실행되지 않음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6520" y="490118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28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재배포 금지 원천은 파생 직전에 멈춤 · 저장소 · 배포물에 없음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27608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8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데이터층 ↔ 런타임층 사이 FK 없음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5650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8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표본 30 미만은 「측정 불가」로 표기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전처리 — 원문에서 판정 재료까지, 순서 자체가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의결서 · 해설서 · 사례집을 다섯 단계로 가공합니다. 마스킹은 정규화보다, 분할은 사전보다 먼저 — 순서를 바꾸면 개인정보와 평가 문구가 샙니다.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산출물 04 데이터 전처리 결과서 · preprocess/*.py · 골든 94a79fe34363 · 사전 2ff0168c4a28 · 청크 e99bd36afc3e · D-174 · D-176 · D-258 · D-282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10512"/>
            <a:ext cx="11128248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pre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901952"/>
            <a:ext cx="10561320" cy="42245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전처리 품질 — 문제마다 규칙 하나, 어기면 멈춘다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데이터의 함정은 사람이 기억해서 피하지 않습니다. 발견한 이슈마다 처리 규칙을 코드에 박고, 결과는 지문으로 재현합니다.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산출물 04 §2.2 품질 이슈 진단 · §3.2 재현성 · scripts/load_db.py · split_manifest.json · D-40 · D-174 · D-176 · D-224 · D-282 · D-317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28800"/>
            <a:ext cx="6903720" cy="384048"/>
          </a:xfrm>
          <a:prstGeom prst="roundRect">
            <a:avLst>
              <a:gd name="adj" fmla="val 20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3232" y="182880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이슈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920240" y="18288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무엇이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67912" y="182880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처리 규칙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0" y="182880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결과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30352" y="228600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13232" y="228600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개인정보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20240" y="228600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업체명 · 대표자명 · 주소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67912" y="22860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앵커 방식 마스킹 → 재검증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69280" y="22860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반출 검사 개인 식별 0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30352" y="283464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3232" y="283464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라벨 불일치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920240" y="283464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근거 조문 ↔ 유형이 다름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67912" y="28346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쓰지 않고 멈춤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669280" y="28346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조문 인용이 라벨 정본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30352" y="338328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13232" y="338328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누수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920240" y="338328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평가 문구가 사전에 섞임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67912" y="33832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분할을 사전보다 먼저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669280" y="33832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분할 원장 없으면 멈춤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30352" y="393192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3232" y="393192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다중 라벨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920240" y="393192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두 호를 함께 건 의결서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67912" y="393192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평가에서 제외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69280" y="393192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 650행 · 문서 62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30352" y="448056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13232" y="448056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재배포 금지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920240" y="448056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변경 · 재배포 제약 원천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867912" y="448056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파생 직전 멈춤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669280" y="448056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10 모듈 26곳에서 검사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530352" y="502920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3232" y="502920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좌표 불명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920240" y="502920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인용 위치를 못 세운 청크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867912" y="50292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근거로 싣지 않음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669280" y="50292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좌표 서는 청크 3,430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30352" y="5577840"/>
            <a:ext cx="6903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3232" y="557784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중복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20240" y="5577840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정규화 뒤 같은 문구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67912" y="55778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평가는 서로 다른 글자로 셈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669280" y="55778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 516 · 평가 60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635240" y="1828800"/>
            <a:ext cx="4023360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35240" y="1828800"/>
            <a:ext cx="4023360" cy="6400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같은 입력이면 같은 결과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863840" y="246888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분할 고정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seed 20260909 + 입력 파일 21개 지문 — 입력이 바뀌면 다른 판으로 안다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863840" y="32004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봉인 평가셋 1,141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정해진 절차로만 열림 · 줄어들면 멈춘다 · 아직 열지 않음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863840" y="393192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DB 되읽기 대조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넣은 뒤 다시 읽어 파일 8,383 = DB 8,383 이 아니면 멈춤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863840" y="466344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파생물 원장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경로 → sha256 · 다른 기기 · 서버는 sha 가 같은 것만 받는다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863840" y="539496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측정 불가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서로 다른 글자 30 미만인 항목은 좋다 · 나쁘다 쓰지 않는다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숫자로 본 CopyLane — 재료 · 판정 · 운영 · 엔지니어링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README 「숫자로 본 CopyLane」과 같은 수입니다. 모든 수는 날짜 · 기기와 함께 사실 원장에 있습니다.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「숫자로 본 CopyLane」 · 사실원장 10-21(B) ⑥ (dev 조건부 1,147 · 게이트 아님 · 낙관값) · 10-22(A) ① · 성능시험_1022_0148 · ssm 서비스 테스트 10-22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30352" y="1810512"/>
            <a:ext cx="111282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06" y="1865376"/>
            <a:ext cx="10570538" cy="43251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판정 엔진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JUDGE CORE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880387"/>
            <a:ext cx="11513977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 코어 — 근거가 없으면 확정하지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문장마다 같은 순서를 지납니다. 모델은 후보를 보여 줄 뿐, 확정과 위험도는 사전 · 규칙 · 근거가 정합니다.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app/graph.py (순서의 정본) · D-127 · D-269 · D-305 · D-311 · D-319 · D-323 · D-337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196596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41832" y="2185415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" y="21854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211226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문장 분할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24231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split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69079" y="237744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26279" y="196596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690871" y="2185415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90871" y="21854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211226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적용 법 고르기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24231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품목 → 법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18120" y="237744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75319" y="196596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439911" y="2185415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9911" y="218541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19" y="211226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검색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24231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벡터+어휘 RRF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898380" y="2807208"/>
            <a:ext cx="0" cy="237744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275319" y="3063239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439911" y="328269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39911" y="3282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19" y="320954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사전 매칭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19" y="3520439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금지 표현 4,342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7818119" y="347472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526279" y="3063239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270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690871" y="328269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90871" y="3282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79" y="320954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 인코더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2079" y="3520439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유형 후보 · 확신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4069079" y="347472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77240" y="3063239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41832" y="328269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1832" y="3282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320954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법별 판정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63040" y="3520439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3법 동시 팬아웃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400300" y="3904487"/>
            <a:ext cx="0" cy="237744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77240" y="416052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270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41832" y="437997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41832" y="4379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3040" y="430682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규칙 판정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3040" y="46177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단독 확정 자격 적중만 확정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069079" y="457200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526279" y="416052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690871" y="437997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690871" y="4379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79" y="430682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위험도 하한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79" y="46177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제재표 → R0 ~ R3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818120" y="4572000"/>
            <a:ext cx="411480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8275319" y="416052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270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439911" y="437997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9911" y="4379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30682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 분기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61119" y="46177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모르면 전제마다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30352" y="5349240"/>
            <a:ext cx="11128248" cy="640080"/>
          </a:xfrm>
          <a:prstGeom prst="roundRect">
            <a:avLst>
              <a:gd name="adj" fmla="val 12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53492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지키는 규칙 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11680" y="534924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① 모델은 위험도 하한을 못 낮춘다  ② 보류엔 사유  ③ 위험도를 올리려면 근거 — 계약 · DB 가 강제 (다음 장)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4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96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584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1872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230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2304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2304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2304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2304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2448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nodeType="withEffect">
                                  <p:stCondLst>
                                    <p:cond delay="2448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2448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위험도 R0 ~ R3 — 등급의 경계는 법이 정한 처분 단계가 긋는다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위험도를 우리가 임의로 매기지 않습니다. 2인이 서명한 제재표의 처분 단계에서 하한을 읽고, 사전 · 인코더 중 높은 쪽을 씁니다.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「위험도 R0 ~ R3」 · app/graph.py assess_risk · app/contracts.py · 제재표 38행(서명) · D-182 · D-227 · D-348 결정 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28800"/>
            <a:ext cx="72237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13232" y="199339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2D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45920" y="190195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특이사항 없음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판정 대상 아님 · 주의 · 상담 꼴 문장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60520" y="1828800"/>
            <a:ext cx="3474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경계가 된 처분  </a:t>
            </a: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30352" y="2615184"/>
            <a:ext cx="72237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13232" y="2779776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45920" y="268833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시정명령 위험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인코더만으로 올릴 수 있는 최대치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160520" y="2615184"/>
            <a:ext cx="3474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경계가 된 처분  </a:t>
            </a: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시정명령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30352" y="3401568"/>
            <a:ext cx="72237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13232" y="356616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645920" y="3474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업무정지 위험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예: 「고혈압 예방에 효과적인 오미자청」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160520" y="3401568"/>
            <a:ext cx="3474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경계가 된 처분  </a:t>
            </a: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업무 · 영업정지 (갈음 과징금 포함)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30352" y="4187952"/>
            <a:ext cx="72237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713232" y="4352544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645920" y="426110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영업 상실 위험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가장 무거운 처분 단계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60520" y="4187952"/>
            <a:ext cx="3474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경계가 된 처분  </a:t>
            </a: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허가 취소 · 영업소 폐쇄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30352" y="5029200"/>
            <a:ext cx="7223760" cy="1097280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49808" y="5120640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통과</a:t>
            </a: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는 모든 문장이 확정이고 R0 일 때뿐입니다. </a:t>
            </a: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위반을 못 찾은 것</a:t>
            </a: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은 R0 이 아니라 「걸린 것 없음」 보류입니다.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징역 · 벌금 같은 형벌은 이 축에 얹지 않고 따로 표시합니다 — 처분 단계와 형벌은 다른 축이라서.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955279" y="182880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어떻게 계산하나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229600" y="25511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668511" y="2514600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걸린 법마다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서명된 제재표에서 처분 단계 하한을 읽는다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29600" y="32552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668511" y="3218688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높은 쪽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사전 하한 · 인코더 하한 중 높은 것이 최종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229600" y="3959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668511" y="3922776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인코더 상한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인코더만으로는 R1 을 넘지 못한다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229600" y="46634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68511" y="4626864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근거 없으면 거부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위험도를 올리려면 조문 · 호가 붙어야 — 아니면 응답이 될 수 없다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229600" y="53675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668511" y="5330952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모르면 보류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하한을 못 찾으면 지어내지 않고 보류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근거에서 위험도까지 — 조문의 호 · 목이 등급이 되는 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위험도는 모델이 매기지 않습니다. 걸린 조문의 호 · 목으로 2인이 서명한 제재표의 처분 단계를 읽고, 모델은 그 하한을 낮출 수 없습니다.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app/graph.py assess_risk · floor_of_sentence · app/sanction.py floor_rows · app/contracts.py RiskAssessment._ratchet · app/models.py ck_judgment_final_not_below_floor · ck_judgment_raise_needs_evidence · ck_judgment_encoder_max · D-09 · D-131 · D-220 · D-310</a:t>
            </a:r>
          </a:p>
        </p:txBody>
      </p:sp>
      <p:pic>
        <p:nvPicPr>
          <p:cNvPr id="149" name="Picture 148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69685"/>
            <a:ext cx="11128248" cy="3310653"/>
          </a:xfrm>
          <a:prstGeom prst="rect">
            <a:avLst/>
          </a:prstGeom>
        </p:spPr>
      </p:pic>
      <p:sp>
        <p:nvSpPr>
          <p:cNvPr id="150" name="Rounded Rectangle 149"/>
          <p:cNvSpPr/>
          <p:nvPr/>
        </p:nvSpPr>
        <p:spPr>
          <a:xfrm>
            <a:off x="530352" y="5349240"/>
            <a:ext cx="11128248" cy="841248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" y="5349240"/>
            <a:ext cx="106984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목을 정확히 못 맞히면  </a:t>
            </a:r>
            <a:r>
              <a:rPr sz="13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하한은 「그 밖에 R1」로 두고, 더 무거울 수 있는 처분은 「가능 상한」으로 근거 줄과 함께 따로 보여 줍니다 — 상한을 하한으로 올리지 않습니다.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믿을 수 있게 만든 장치 — 원칙을 말이 아니라 코드 · 계약 · 시험으로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AI 가 판정을 지어내지 못하게, 없으면 없다고 말하게, 숫자를 믿을 수 있게. 아래는 모두 저장소 안의 위치를 가리킬 수 있는 장치입니다.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README 「믿을 수 있게 만든 장치」 · tests/test_judge_path_offline.py · app/contracts.py · app/routers/copygen/filters.py · app/model_lock.py · scripts/sealed_log.py · 원장 10-21(B) ⑥ · D-40 · D-220 · D-333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" y="1965960"/>
            <a:ext cx="3611880" cy="73152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214884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환각 제어 — 판정은 생성하지 않는다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19" y="2606040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판정엔 생성형 LLM 없음 — 사전 · 인코더 · 규칙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외부 호출을 부르면 시험이 실패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근거 없이 위험도를 올리면 응답 거부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입력에 없는 수치 · 인증은 필터가 떨굼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60520" y="3383280"/>
            <a:ext cx="109728" cy="0"/>
          </a:xfrm>
          <a:prstGeom prst="line">
            <a:avLst/>
          </a:prstGeom>
          <a:ln w="25400">
            <a:solidFill>
              <a:srgbClr val="833AB4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88536" y="1965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88536" y="1965960"/>
            <a:ext cx="3611880" cy="73152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89704" y="214884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fail-closed — 없으면 없다고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9704" y="2606040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DB · 엔진이 없으면 가짜 200 대신 503 · 501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sLLM 이 없으면 후보를 지어내지 않음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위반을 못 찾아도 통과가 아니라 보류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지문이 안 맞는 모델 판은 안 올림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18704" y="3383280"/>
            <a:ext cx="109728" cy="0"/>
          </a:xfrm>
          <a:prstGeom prst="line">
            <a:avLst/>
          </a:prstGeom>
          <a:ln w="25400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046720" y="196596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1965960"/>
            <a:ext cx="3611880" cy="73152"/>
          </a:xfrm>
          <a:prstGeom prst="rect">
            <a:avLst/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47888" y="214884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>일관성 — 같은 문장엔 같은 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2606040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품목을 모를 때 「위반」이라 확정했다면, 식품 · 건기식 · 화장품 어느 쪽으로 가정해도 같은 답이어야 한다 → 어긋난 문장 0 / 1,147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품목을 처음부터 알려 준 판정과 나중에 골라 준 판정을 668쌍 비교 → 결과가 다른 쌍 0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표본이 30 에 못 미치면 「측정 불가」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5303520"/>
            <a:ext cx="11128248" cy="896112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397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5349240"/>
            <a:ext cx="29260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AI 가 쓴 문장도</a:t>
            </a:r>
          </a:p>
          <a:p>
            <a:pPr algn="l"/>
            <a:r>
              <a:rPr sz="14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같은 관문을 다시 지난다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5349240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GPT 카피 후보도, sLLM 이 고쳐 쓴 문장도 판정 코어를 처음부터 다시 지납니다. 사전 위반이 붙은 안은 화면에 나가지 않고, 광고 문구는 로그에 길이와 지문만 남깁니다.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분기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사실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확인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질문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—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모르면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묻고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,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답으로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다시</a:t>
            </a:r>
            <a:r>
              <a:rPr sz="270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700" b="1" dirty="0" err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</a:t>
            </a:r>
            <a:endParaRPr sz="2700" b="1" dirty="0">
              <a:solidFill>
                <a:srgbClr val="201D29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같은 「고혈압 예방」도 식품이냐 건강기능식품이냐에 따라 조문이 다릅니다. 모르면 추측하지 않고 묻습니다.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사실원장 10-21(B) ⑥ (dev 조건부 1,147행 · D4-20 · 게이트 아님) · D-319 · D-348 보충 31~37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36118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3232" y="21031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1031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STEP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0472" y="207568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제품 유형 고르기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24688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판정을 멈추고 유형부터 묻는다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92" y="2834640"/>
            <a:ext cx="3251200" cy="2560320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cxnSp>
        <p:nvCxnSpPr>
          <p:cNvPr id="42" name="Connector 41"/>
          <p:cNvCxnSpPr/>
          <p:nvPr/>
        </p:nvCxnSpPr>
        <p:spPr>
          <a:xfrm>
            <a:off x="4160520" y="3749039"/>
            <a:ext cx="109728" cy="0"/>
          </a:xfrm>
          <a:prstGeom prst="line">
            <a:avLst/>
          </a:prstGeom>
          <a:ln w="25400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288536" y="1965960"/>
            <a:ext cx="36118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71416" y="21031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71416" y="21031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STEP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207568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추가 정보 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1416" y="24688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기능성 표시 일반식품인가?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834640"/>
            <a:ext cx="3337560" cy="2313796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cxnSp>
        <p:nvCxnSpPr>
          <p:cNvPr id="49" name="Connector 48"/>
          <p:cNvCxnSpPr/>
          <p:nvPr/>
        </p:nvCxnSpPr>
        <p:spPr>
          <a:xfrm>
            <a:off x="7918704" y="3749039"/>
            <a:ext cx="109728" cy="0"/>
          </a:xfrm>
          <a:prstGeom prst="line">
            <a:avLst/>
          </a:prstGeom>
          <a:ln w="25400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046720" y="1965960"/>
            <a:ext cx="36118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229600" y="21031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21031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STEP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07568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사실 확인 질문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4688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‘판매 1위’ — 근거가 있나요?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834640"/>
            <a:ext cx="3337560" cy="2167482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분기 로직 — 결론은 넷, 보류는 이유가 다섯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보류는 「모른다」 한 덩어리가 아닙니다. 무엇이 모자란지에 따라 이름이 달라지고, 화면은 그 이름에 맞는 다음 행동을 안내합니다.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app/graph.py route_review · 계약 hold_kind · 원장 10-21(B) ⑥ · 10-22(A) ② · D-340 결정 6 · D-348 보충 36 결정 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0352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네 가지 결론 — 우선순위 보류 &gt; 증명서 &gt; 지시 &gt; 통과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30352" y="2176272"/>
            <a:ext cx="26791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13232" y="2331720"/>
            <a:ext cx="539496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보류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3232" y="27432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무엇이 더 필요한지 알려 준다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359152" y="2331720"/>
            <a:ext cx="685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8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1,019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46704" y="2176272"/>
            <a:ext cx="26791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3529584" y="23317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합법화 불가 증명서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529584" y="27432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고쳐도 안 되는 이유와 근거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175504" y="2331720"/>
            <a:ext cx="685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8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68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63056" y="2176272"/>
            <a:ext cx="26791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345936" y="23317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지시 + 고쳐 쓰기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345936" y="27432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조건을 갖추면 쓸 수 있는 표현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91856" y="2331720"/>
            <a:ext cx="685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8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979408" y="2176272"/>
            <a:ext cx="26791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162288" y="2331720"/>
            <a:ext cx="539496" cy="310896"/>
          </a:xfrm>
          <a:prstGeom prst="roundRect">
            <a:avLst>
              <a:gd name="adj" fmla="val 50000"/>
            </a:avLst>
          </a:prstGeom>
          <a:solidFill>
            <a:srgbClr val="2D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통과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62288" y="27432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모든 문장 확정 ∧ R0 일 때만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08208" y="2331720"/>
            <a:ext cx="685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8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53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30352" y="3474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보류 다섯 — 이름이 곧 다음 행동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30352" y="3822191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944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답 대기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93392" y="3931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287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94944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실증 · 인정 여부 질문에 답하면 다시 판정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774289" y="3822191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938881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고르기 대기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237329" y="3931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938881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품목을 고르면 그 전제로 판정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018227" y="3822191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182819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확인 못 함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81267" y="3931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604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182819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근거 · 위험도 하한이 모자라 확정하지 않음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262164" y="3822191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426756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걸린 것 없음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725204" y="3931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160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426756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위반 표현을 못 찾음 — 적법이 아니다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506102" y="3822191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670694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그 밖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969142" y="3931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670694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통과 예외 · 전용법 미수록 등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30352" y="5349240"/>
            <a:ext cx="11128248" cy="77724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왜 「걸린 것 없음」을 통과로 열지 않나  </a:t>
            </a:r>
            <a:r>
              <a:rPr sz="128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dev 에서 이 꼴의 문장 중 37.9% [30.8%, 45.6%] 가 실제로는 위반이었습니다. 「위반 후보를 못 찾았다」는 적법 확인이 아닙니다.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12014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 인코더 — 사전이 못 본 위반을 찾아 주는 두 번째 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KcBERT 를 우리 정답 문장으로 파인튜닝했습니다. 사전이 못 본 위반 유형을 후보로 짚고, 확신이 문턱을 넘을 때만 확정 자리에 씁니다.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사실원장 2026-10-14(A) ⑧ (dev 749행 · 카드 17) · 10-19(B) ① (D4-20 vs D4-10) · D-323 · D-331 · D-339 · D-349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2057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위반을 찾아내는 비율 — 사전만 vs 인코더까지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35915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정답이 「위반」인 문장 510개 중 몇 개를 짚었나 (10-14 측정 · 1판)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28346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사전으로 확정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40280" y="2889504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F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240280" y="2889504"/>
            <a:ext cx="383225" cy="256032"/>
          </a:xfrm>
          <a:prstGeom prst="roundRect">
            <a:avLst>
              <a:gd name="adj" fmla="val 50000"/>
            </a:avLst>
          </a:prstGeom>
          <a:solidFill>
            <a:srgbClr val="C9B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0280" y="3200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12.7%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703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사전 후보까지 보면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40280" y="3758183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F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240280" y="3758183"/>
            <a:ext cx="627644" cy="256032"/>
          </a:xfrm>
          <a:prstGeom prst="roundRect">
            <a:avLst>
              <a:gd name="adj" fmla="val 50000"/>
            </a:avLst>
          </a:prstGeom>
          <a:solidFill>
            <a:srgbClr val="EC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40280" y="4069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EC8FB1"/>
                </a:solidFill>
                <a:latin typeface="Noto Sans"/>
                <a:ea typeface="Noto Sans"/>
                <a:cs typeface="Noto Sans"/>
              </a:rPr>
              <a:t>20.8%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 후보까지 보면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40280" y="4626864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F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40280" y="4626864"/>
            <a:ext cx="2537734" cy="256032"/>
          </a:xfrm>
          <a:prstGeom prst="roundRect">
            <a:avLst>
              <a:gd name="adj" fmla="val 5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40280" y="4937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84.1%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44068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인코더 후보는 화면에 「AI 추정 유형」으로 보이고 고쳐 쓰기로 이어집니다. 어느 조문 · 어느 호인지는 직접 내지 못하므로, 확신이 문턱 아래면 확정하지 않습니다.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08192" y="1920240"/>
            <a:ext cx="555040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27648" y="20574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모델 버전 — 쓰는 버전은 잠금 파일이 정한다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25146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27648" y="26334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9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1판 · 9월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30175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문장만 보고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위반 유형 후보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00416" y="3063240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065008" y="25146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65008" y="26334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90" b="1">
                <a:solidFill>
                  <a:srgbClr val="EC8FB1"/>
                </a:solidFill>
                <a:latin typeface="Noto Sans"/>
                <a:ea typeface="Noto Sans"/>
                <a:cs typeface="Noto Sans"/>
              </a:rPr>
              <a:t>2판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6448" y="30175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품목 · 사실 전제도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함께 입력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637776" y="3063240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802367" y="25146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016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02367" y="26334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3판 · 지금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93807" y="30175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기능성 표시 데이터 추가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10-19 채택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08192" y="40690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91072" y="42702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4.0 → 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47731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틀린 확정 (2판 → 3판)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91072" y="5056632"/>
            <a:ext cx="233172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「위반」이라 확정한 것 중 틀린 비율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틀리거나 애매한 확정 5건 → 3건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61120" y="40690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0" y="42702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0.693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47731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확정 문턱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5056632"/>
            <a:ext cx="233172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AI 확신 점수가 문턱을 넘을 때만 확정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아래면 보류 · 문턱은 측정 전에 고정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법을 더하기 쉬운 구조 — 그리고 법의 시행일을 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법마다 판정 노드를 따로 두고, 품목 → 적용 법은 라우팅 표 한 곳이 정합니다. 새 법을 붙여도 기존 법의 판정은 건드리지 않습니다.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app/graph.py:491-516 LAW_SCOPE · LAW_OF_NODE · REFERENCE_ONLY · preprocess/law_article.py · 카드 오른쪽 수 = 법별 조문 청크(집 기기 DB 10-23 조회 · 원장 미등재) · D-267 · D-271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2880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30352" y="1828800"/>
            <a:ext cx="5486400" cy="64008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라우팅 표 → 법별 노드 (병렬)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77240" y="2670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식품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77240" y="344728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건강기능식품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77240" y="42245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화장품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246120" y="2514600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401568" y="258775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표시광고법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모든 품목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983480" y="251460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589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246120" y="3291840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401568" y="336499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식품표시광고법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식품 · 건기식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983480" y="329184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2,091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46120" y="4069080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401568" y="414223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화장품법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화장품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983480" y="406908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3,483</a:t>
            </a:r>
          </a:p>
        </p:txBody>
      </p:sp>
      <p:cxnSp>
        <p:nvCxnSpPr>
          <p:cNvPr id="164" name="Connector 163"/>
          <p:cNvCxnSpPr/>
          <p:nvPr/>
        </p:nvCxnSpPr>
        <p:spPr>
          <a:xfrm flipV="1">
            <a:off x="2212848" y="2852928"/>
            <a:ext cx="1005840" cy="9144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212848" y="2862072"/>
            <a:ext cx="1005840" cy="768096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212848" y="2852928"/>
            <a:ext cx="1005840" cy="786384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212848" y="3630168"/>
            <a:ext cx="1005840" cy="9144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2212848" y="2852928"/>
            <a:ext cx="1005840" cy="1563624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212848" y="4407408"/>
            <a:ext cx="1005840" cy="9144"/>
          </a:xfrm>
          <a:prstGeom prst="line">
            <a:avLst/>
          </a:prstGeom>
          <a:ln w="15875">
            <a:solidFill>
              <a:srgbClr val="9E97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/>
          <p:cNvSpPr/>
          <p:nvPr/>
        </p:nvSpPr>
        <p:spPr>
          <a:xfrm>
            <a:off x="3246120" y="4846320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 w="10160">
            <a:solidFill>
              <a:srgbClr val="CFC8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01568" y="48463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건강기능식품법</a:t>
            </a: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  참고 전용 · 523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4892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노드가 없는 법은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위반 근거로 보내지 않음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577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+ 의료기기 광고</a:t>
            </a: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  표에 줄 하나 · 노드 · 조문 · 제재표를 붙이면 끝 — 다음 확장 1순위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217920" y="182880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464808" y="19933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어긋나면 앱이 시작하지 않는다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464808" y="2395728"/>
            <a:ext cx="4983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●  품목 → 노드(LAW_SCOPE) 와 노드 → 법(LAW_OF_NODE) 두 표가 법 목록과 어긋나면 import 단계에서 멈춤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●  법이 늘어도 판정 기준을 바꾸는 곳은 표 한 곳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●  법마다 따로 판정한 뒤 합치므로 한 법의 변경이 다른 법 결과를 흔들지 않음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217920" y="40233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464808" y="41879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시행일을 아는 법령 데이터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64808" y="4590288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●  공포됐지만 아직 시행 전인 조항은 「시행 예정」 표시와 함께 싣는다 (예: 식품등의 표시기준 2028-01-01 시행분)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●  원문이 바뀌어 그 조항을 찾지 못하면 적재가 멈춘다 — 조용히 옛 조문으로 판정하지 않는다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재생성 · 생성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REWRITE &amp; GENERATION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880387"/>
            <a:ext cx="11989837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자체 sLLM 고쳐 쓰기 — 위반만 지우고, 사실은 남긴다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직접 파인튜닝한 Qwen3-4B + LoRA 가 우리 GPU 에서 돕니다. 고친 문장은 네 번 걸러져야 화면에 나갑니다.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docs/lse 자체 sLLM 결과서 제출본 10-19 · 멘토링 결과서 10-20 · docs/lse/sllm_service.py · D-332 결정 3 · D-335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위반 문장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3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+ 판정 유형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49424" y="2578608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414016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016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14016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1단계 LoRA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위반 제거</a:t>
            </a:r>
          </a:p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못 고치면 「불가」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33087" y="2578608"/>
            <a:ext cx="146305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297680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관문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규칙 검사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16752" y="2578608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181344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81344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후처리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공식 문구 · 조건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900415" y="2578608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065008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65008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2단계 다듬기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규칙으로 쓰는 법 붙이기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784080" y="2578608"/>
            <a:ext cx="146304" cy="0"/>
          </a:xfrm>
          <a:prstGeom prst="line">
            <a:avLst/>
          </a:prstGeom>
          <a:ln w="15875">
            <a:solidFill>
              <a:srgbClr val="E1306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8672" y="196596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48672" y="210312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재판정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1824" y="25146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위반 붙으면 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352" y="3429000"/>
            <a:ext cx="67665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8" y="354787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네 겹의 거름망 — 하나라도 걸리면 내보내지 않는다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40233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① 모델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402336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못 고치는 문장이면 억지로 바꾸지 않고 「불가」라고 답한다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4507992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② 관문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450799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금지어 · 지어낸 낱말 · 원료명이 잘린 문장을 규칙으로 막는다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99262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③ 후처리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4992624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기능성 문구는 공식 문구로 바로잡고, 필요한 조건 문구를 붙인다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5477256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④ 재판정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5477256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검수와 같은 판정 코어로 처음부터 다시 — 위반이 붙은 안은 빼고, 못 찾은 안은 「통과 아님」 표시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58" y="3429000"/>
            <a:ext cx="2867475" cy="2377440"/>
          </a:xfrm>
          <a:prstGeom prst="rect">
            <a:avLst/>
          </a:prstGeom>
          <a:ln w="9525">
            <a:solidFill>
              <a:srgbClr val="EFE3E8"/>
            </a:solidFill>
          </a:ln>
        </p:spPr>
      </p:pic>
      <p:sp>
        <p:nvSpPr>
          <p:cNvPr id="70" name="TextBox 69"/>
          <p:cNvSpPr txBox="1"/>
          <p:nvPr/>
        </p:nvSpPr>
        <p:spPr>
          <a:xfrm>
            <a:off x="7479792" y="5870448"/>
            <a:ext cx="41788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검수 화면 · 「이 문장 고쳐 쓰기」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125931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고쳐 쓰기 평가 — 버전 넷을 같은 시험으로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학습에 없던 실제 광고 87개로 비교했습니다. 가장 먼저 본 것은 「고친 척 위반을 남긴 문장」(위반 포장)이 0 인가입니다.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docs/lse 멘토링 결과서 2026-10-20 §3 · §4 (정답표 87 · dev 511) · 서버 잠금 판 q4b-v14 · n2 는 채택 결정 · 잠금 등재 대기(배포 아님)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8385048" cy="457200"/>
          </a:xfrm>
          <a:prstGeom prst="roundRect">
            <a:avLst>
              <a:gd name="adj" fmla="val 2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19659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버전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1965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 문장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1965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「불가」 맞힘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1965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위반 포장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1965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지나친 거절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19659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응답 시간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2514600"/>
            <a:ext cx="838504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2514600"/>
            <a:ext cx="21031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v14 · 지금 서버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2514600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2,019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2514600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2514600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514600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2514600"/>
            <a:ext cx="1097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7.3초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3081528"/>
            <a:ext cx="838504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3081528"/>
            <a:ext cx="21031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v17 · 기존+새 데이터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3081528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4,589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081528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67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081528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3081528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0" y="3081528"/>
            <a:ext cx="1097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" y="3648456"/>
            <a:ext cx="838504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3648456"/>
            <a:ext cx="21031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n2 · 새 데이터만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4640" y="3648456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2,570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648456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66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648456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3648456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3648456"/>
            <a:ext cx="1097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4215383"/>
            <a:ext cx="8385048" cy="493776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397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7512" y="4215383"/>
            <a:ext cx="21031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n2 + 되살리기 ★채택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4215383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n2 + 규칙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4215383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66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4215383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4215383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0" y="4215383"/>
            <a:ext cx="1097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3.9초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98280" y="1965960"/>
            <a:ext cx="2560320" cy="2724912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81160" y="21031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모든 버전 · 모든 시험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81160" y="242316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52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34290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위반 포장</a:t>
            </a:r>
          </a:p>
          <a:p>
            <a:pPr algn="l"/>
            <a:r>
              <a:rPr sz="142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고친 척 위반을 남긴 문장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0352" y="4892040"/>
            <a:ext cx="11128248" cy="11887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49808" y="4965192"/>
            <a:ext cx="1069848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「불가」 맞힘</a:t>
            </a:r>
            <a:r>
              <a:rPr sz="14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 고칠 수 없는 문장에 「불가」라고 바르게 답한 수(87개 중)   </a:t>
            </a: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지나친 거절</a:t>
            </a:r>
            <a:r>
              <a:rPr sz="14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 살릴 수 있는 문장을 「불가」로 버린 수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되살리기</a:t>
            </a:r>
            <a:r>
              <a:rPr sz="14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 모델이 「불가」라 해도 질병 · 의약품 표현이 없는 화장품 기능 주장이면 공식 문구 + 심사 조건으로 살리는 규칙 — 지나친 거절 14 → 6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결론</a:t>
            </a:r>
            <a:r>
              <a:rPr sz="143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  새 데이터로 「불가」 판단은 55 → 66 으로 좋아졌고, 처음 보는 문장에선 거절이 늘었지만(후보 16% → 5%) 잘못 고친 문장보다 거절이 안전하다고 판단했습니다.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14300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카피 생성 엔진 — 생성과 판정은 분리돼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생성 엔진은 GPT 로 후보를 쓰고 거르고 고르는 일만 합니다. 내보내도 되는지는 검수와 같은 판정 엔진에 문장만 넘겨 결과로 받습니다.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app/routers/copygen (llm.py · filters.py · pipeline.py · judge.py — 「판정을 여기서 새로 쓰지 않는다」) · D-78 개정 · D-119 · D-332</a:t>
            </a:r>
          </a:p>
        </p:txBody>
      </p:sp>
      <p:pic>
        <p:nvPicPr>
          <p:cNvPr id="205" name="Picture 204" descr="copy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50490"/>
            <a:ext cx="11128248" cy="3440483"/>
          </a:xfrm>
          <a:prstGeom prst="rect">
            <a:avLst/>
          </a:prstGeom>
        </p:spPr>
      </p:pic>
      <p:sp>
        <p:nvSpPr>
          <p:cNvPr id="206" name="Rounded Rectangle 205"/>
          <p:cNvSpPr/>
          <p:nvPr/>
        </p:nvSpPr>
        <p:spPr>
          <a:xfrm>
            <a:off x="530352" y="5440680"/>
            <a:ext cx="11128248" cy="749808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77240" y="5440680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역할 분리   </a:t>
            </a:r>
            <a:r>
              <a:rPr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GPT = 많이 · 다양하게 쓰는 손   /   판정 엔진 = 내보내도 되는지 정하는 눈 — 손이 눈을 바꿀 수 없다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카피 생성 결과 — 셋을 고르고, 왜 그 셋인지 보여 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건강기능식품(기능성 인정) 제품으로 만든 실제 결과입니다. 남은 후보가 「안전 ↔ 주의」 축 어디쯤인지 함께 보여 줍니다.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CopyLane 사용자 화면 2026-10-22 (시연 계정 · 건강기능식품 · 기능성 인정 · 라운드 1 — 만든 것 20 · 남긴 것 16) · app/routers/copygen/pipeline.py pick()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31519" y="19842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D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A안 · 보수안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1519" y="24231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아침 루틴에 더하는 한 알,</a:t>
            </a:r>
          </a:p>
          <a:p>
            <a:pPr algn="l">
              <a:lnSpc>
                <a:spcPct val="110000"/>
              </a:lnSpc>
            </a:pPr>
            <a:r>
              <a:rPr sz="14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장 건강에 도움을 줄 수 있음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31519" y="3310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위반 유형에서 가장 먼 후보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279392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4480559" y="19842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D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B안 · 균형안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480559" y="24231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한 알로 가볍게 시작하는 하루,</a:t>
            </a:r>
          </a:p>
          <a:p>
            <a:pPr algn="l">
              <a:lnSpc>
                <a:spcPct val="110000"/>
              </a:lnSpc>
            </a:pPr>
            <a:r>
              <a:rPr sz="14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장 건강에 도움을 줄 수 있음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80559" y="3310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그 사이에서, 둘과 덜 닮은 것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28431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8229600" y="19842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C안 · 공격안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29600" y="24231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한 알로 건강하게, 데일리 밸런스 프로바이오틱스. 장 건강에 도움을 줄 수 있음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29600" y="3310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문턱에 가장 가깝지만 넘지 않은 것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30352" y="3840480"/>
            <a:ext cx="111282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77240" y="39136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남은 후보 16개 — 판정 인코더가 본 「위반 유형까지의 거리」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188720" y="4681728"/>
            <a:ext cx="9875520" cy="0"/>
          </a:xfrm>
          <a:prstGeom prst="line">
            <a:avLst/>
          </a:prstGeom>
          <a:ln w="25400">
            <a:solidFill>
              <a:srgbClr val="CF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3671864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057009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274271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373026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481657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935931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163068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242072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409956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239499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496263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145475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379915" y="4498848"/>
            <a:ext cx="109728" cy="109728"/>
          </a:xfrm>
          <a:prstGeom prst="ellipse">
            <a:avLst/>
          </a:prstGeom>
          <a:solidFill>
            <a:srgbClr val="CF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063240" y="4581144"/>
            <a:ext cx="201168" cy="201168"/>
          </a:xfrm>
          <a:prstGeom prst="ellipse">
            <a:avLst/>
          </a:prstGeom>
          <a:solidFill>
            <a:srgbClr val="2D8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889504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179" name="Oval 178"/>
          <p:cNvSpPr/>
          <p:nvPr/>
        </p:nvSpPr>
        <p:spPr>
          <a:xfrm>
            <a:off x="5275356" y="4581144"/>
            <a:ext cx="201168" cy="201168"/>
          </a:xfrm>
          <a:prstGeom prst="ellipse">
            <a:avLst/>
          </a:prstGeom>
          <a:solidFill>
            <a:srgbClr val="2D8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101620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181" name="Oval 180"/>
          <p:cNvSpPr/>
          <p:nvPr/>
        </p:nvSpPr>
        <p:spPr>
          <a:xfrm>
            <a:off x="9205813" y="4581144"/>
            <a:ext cx="201168" cy="201168"/>
          </a:xfrm>
          <a:prstGeom prst="ellipse">
            <a:avLst/>
          </a:prstGeom>
          <a:solidFill>
            <a:srgbClr val="F5604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032077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C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77240" y="45445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안전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109960" y="4544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주의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오른쪽 끝(문턱)을 넘은 후보는 이미 탈락해 여기 없습니다 · 위험도 등급도, 소구력도 아닙니다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30352" y="5559552"/>
            <a:ext cx="11128248" cy="640080"/>
          </a:xfrm>
          <a:prstGeom prst="roundRect">
            <a:avLst>
              <a:gd name="adj" fmla="val 6000"/>
            </a:avLst>
          </a:prstGeom>
          <a:solidFill>
            <a:srgbClr val="FDEEF3"/>
          </a:solidFill>
          <a:ln w="10160">
            <a:solidFill>
              <a:srgbClr val="F2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77240" y="555955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남김 ≠ 적법  </a:t>
            </a:r>
            <a:r>
              <a:rPr sz="133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「위반 후보를 못 찾았다」는 뜻입니다. 고른 문구는 「이 문구로 광고 만들기」로 AI 광고 생성에 넘어가 다시 판정을 받습니다.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2638"/>
            <a:ext cx="996696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생성 결과 — 1라운드 후보 120개 중 96개가 판정 인코더를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6개 분기에서 두 모델이 20개씩 썼습니다(10-12 · 인코더 기준 측정). 남은 문구를 위반 문턱까지의 거리로 줄 세워 A안 · B안 · C안을 고릅니다.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docs/ksr/LLM_카피생성_분기별_프롬프트_결과표_ksr_2026-10-12.md (1라운드 · 사람 판독 전) · pipeline.py pick() · 프롬프트 · 모델별 결과 10-03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57607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20116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분기별 통과 — 후보 20개씩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4231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식품 · 인증 아니오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2496312"/>
            <a:ext cx="2125980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732020" y="2496312"/>
            <a:ext cx="141732" cy="219456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73752" y="2496312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32120" y="2423160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15/20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282549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식품 · HACCP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2898648"/>
            <a:ext cx="2267712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873752" y="2898648"/>
            <a:ext cx="283464" cy="219456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157216" y="2898648"/>
            <a:ext cx="283464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32120" y="2825496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16/20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22783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건기식 · 인증 아니오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06040" y="3300984"/>
            <a:ext cx="2409444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015484" y="3300984"/>
            <a:ext cx="283464" cy="219456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298948" y="3300984"/>
            <a:ext cx="141732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32120" y="3227832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17/20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63016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건기식 · 기능성 인정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6040" y="3703320"/>
            <a:ext cx="2551176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57216" y="3703320"/>
            <a:ext cx="283464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32120" y="3630168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18/20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03250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화장품 · 일반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6040" y="4105656"/>
            <a:ext cx="1842516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48556" y="4105656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015484" y="4105656"/>
            <a:ext cx="425196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32120" y="4032504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13/20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4348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화장품 · 기능성 심사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06040" y="4507992"/>
            <a:ext cx="2409444" cy="219456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015484" y="4507992"/>
            <a:ext cx="141732" cy="219456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57216" y="4507992"/>
            <a:ext cx="283464" cy="219456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32120" y="4434840"/>
            <a:ext cx="685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17/20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06040" y="487375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98064" y="48006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통과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11880" y="487375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F5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03904" y="48006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판정 탈락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617720" y="487375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09744" y="48006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중복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73952" y="19202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56832" y="212140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96 / 120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56832" y="26243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 판정 통과 80%</a:t>
            </a:r>
          </a:p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10-12 · 1라운드 측정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44000" y="19202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26880" y="212140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26243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지어낸 수치 · 인증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73952" y="3611880"/>
            <a:ext cx="5184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75120" y="3703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판정이 막은 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40690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“HACCP 인증 시설에서 만든 바른손 두부”</a:t>
            </a:r>
          </a:p>
          <a:p>
            <a:pPr algn="l">
              <a:lnSpc>
                <a:spcPct val="120000"/>
              </a:lnSpc>
            </a:pPr>
            <a:r>
              <a:rPr sz="1370" b="1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>거짓 · 과장 0.71 (문턱 0.5) → 탈락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인증을 효능처럼 내세우는 표현을 걸러냄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0352" y="5376672"/>
            <a:ext cx="11128248" cy="73152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541324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🛡️ A안 (보수안)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" y="573328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문턱에서 가장 먼 후보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3128" y="541324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⚖️ B안 (균형안)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53128" y="573328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가운데 · 둘과 덜 닮은 것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56448" y="541324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>🔥 C안 (공격안)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56448" y="573328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문턱에 가깝지만 넘지 않은 것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평가 · 한계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 &amp; LIMITS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평가 결과 — 확정한 것은 거의 틀리지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개발용 평가 문장으로 판정 엔진 전체를 잽니다. 「많이 맞힌다」보다 「확정한 것은 틀리지 않는다」를 먼저 봤습니다.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사실원장 10-21(B) ⑥ (집 기기 · D4-20 c451942436f0 · 사전 2ff0168c4a28 · 골든 94a79fe34363 · 게이트 아님) · sLLM 멘토링 결과서 10-20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187451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판정 엔진 — 개발용 평가 문장 1,147개 (품목을 알려 준 경우)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2240280"/>
            <a:ext cx="17556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441448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94436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위반 확정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227832"/>
            <a:ext cx="1389888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새로 확정한 43개 중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40개는 종류까지 정답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14016" y="2240280"/>
            <a:ext cx="17556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96896" y="2441448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1.5%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294436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확정이 틀린 비율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3227832"/>
            <a:ext cx="1389888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66개 중 1개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95% 범위 0.3 ~ 8.1%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2240280"/>
            <a:ext cx="17556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0" y="2441448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294436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적법을 위반으로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3227832"/>
            <a:ext cx="1389888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평가 밖 적법 문장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묶음 4개에서도 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1344" y="2240280"/>
            <a:ext cx="17556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64224" y="2441448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 / 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294436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적법 문장 오탐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227832"/>
            <a:ext cx="1389888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품목을 몰라도</a:t>
            </a:r>
          </a:p>
          <a:p>
            <a:pPr algn="l"/>
            <a:r>
              <a:rPr sz="128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적법 38개 중 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83879" y="1874519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자체 sLLM 고쳐 쓰기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237744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39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2697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위반 포장 — 고친 척 위반을 남긴 문장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0175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39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66 / 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3375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「불가」 맞힘 — 실제 광고 87개 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3657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39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97763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지나친 거절 — 살릴 문장을 버린 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4526280"/>
            <a:ext cx="11128248" cy="1005840"/>
          </a:xfrm>
          <a:prstGeom prst="roundRect">
            <a:avLst>
              <a:gd name="adj" fmla="val 6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30352" y="5669280"/>
            <a:ext cx="11128248" cy="457200"/>
          </a:xfrm>
          <a:prstGeom prst="roundRect">
            <a:avLst>
              <a:gd name="adj" fmla="val 12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" y="56692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중간 → 지금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1680" y="56692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판정 API 501 · 수치 없음  →  같은 평가 문장으로 바꿀 때마다 다시 재고, 예측과 실측을 함께 기록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77240" y="459943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읽는 법  </a:t>
            </a:r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확신할 때만 확정합니다. 채점한 783문장 중 확정은 66개(8.4%), 나머지는 근거 · 질문과 함께 보류로 돌려줍니다. 이 평가 문장은 버전과 기준을 고를 때 쓴 것이라 실제보다 좋게 나올 수 있어, 마지막 시험지(봉인 평가셋 1,141)는 따로 남겨 두었습니다.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100023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한계와 다음 단계 — 숨기지 않고, 경로를 붙여서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확정 범위가 좁은 것은 설계의 결과이지만, 넓혀야 할 한계이기도 합니다. 각 한계마다 다음 할 일을 정해 두었습니다.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원장 10-21(B) ⑥ (coverage 66/783) · docs/lse/멘토링_결과서_2026-10-20 §3 · §4 (87 · dev 511 · 81 → 27) · 작업기록_1022 남은 위험(P1-8 · P2-11 · P3-19) · D-339 결정 7 · DISCLAIMER.md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19" y="21488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21488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D9862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2121408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4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보류가 많다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25694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개발용 평가에서 확정한 문장은 8.4%(783 중 66) — 나머지는 근거 · 질문과 함께 보류합니다.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31546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다음: 봉인 평가셋 1회 개봉으로 최종 성능 확정 · 질문으로 보류를 답으로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196596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73368" y="21488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21488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D9862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8312" y="2121408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4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 판정은 아직 후보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5694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인코더는 위반 유형까지 압니다. 근거 조문만 붙이면 확정으로 갈 수 있습니다.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1546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다음: 인코더 유형을 제재표 · 낱말표로 호 · 구간까지 연결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" y="3840479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31519" y="4023359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9" y="4023359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D9862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6464" y="3995927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4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재생성은 아직 보수적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" y="4443983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처음 보는 문장 511개에서 고쳐 쓴 후보 비율 15.9% → 5.3%.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" y="5029199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다음: n2 판 잠금 등재 (「불가」 정답 55 → 66) · 데이터 1만 건으로 확대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3840479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373368" y="4023359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73368" y="4023359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D94C65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68312" y="3995927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4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운영 보완이 남았다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443983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7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요청 횟수 제한 · 개인정보처리방침 게시 · 접속기록 1년 보관은 아직입니다.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029199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다음: 공개 전 운영 3종 · 업종 확장(의료기기) · 리랭커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" y="5733288"/>
            <a:ext cx="11128248" cy="457200"/>
          </a:xfrm>
          <a:prstGeom prst="roundRect">
            <a:avLst>
              <a:gd name="adj" fmla="val 12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7240" y="573328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원칙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573328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확정한 것은 근거와 함께, 모르는 것은 보류와 질문으로 · 1차 스크리닝이며 법적 확정 판단이 아닙니다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배포 · 시연 · 운영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· DEMO · OPERATION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배포 — copylane.site 에서 실제로 돕니다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실제 주소 copylane.site 에서 누구나 접속해 쓸 수 있습니다. 혼자 쓰면 0.6초, 10명이 동시에 써도 실패 없이 3초대에 답합니다.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성능시험_1022_0148 (bfbd834 · g4dn.xlarge T4 · 워커 1 · 합격선 없는 보고) · ssm 서비스 테스트 결과보고서 10-22 (서버 판 6c721ae) · 배포절차서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9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g4dn.xlarge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" y="25146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Tesla T4 GPU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19" y="28346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앱 · 임베딩 · sLLM (GPU)</a:t>
            </a:r>
          </a:p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인코더는 CPU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6704" y="196596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47872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9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25146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PostgreSQL 16 + pgvector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7872" y="2834640"/>
            <a:ext cx="228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/health 적재 확인</a:t>
            </a:r>
          </a:p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청크 6,686 · 사전 4,342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3056" y="196596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4224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9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Caddy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25146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HTTPS · Let's Encrypt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28346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내부 포트 차단 · /docs 404</a:t>
            </a:r>
          </a:p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관리자 화면은 허용 IP 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9408" y="196596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30352" y="3611880"/>
            <a:ext cx="658368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370332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응답 시간 — 실제 주소로 밖에서 잼 · 10-22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190181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동시 사용자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실패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보통 (p50)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느린 쪽 (p95)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232" y="4480560"/>
            <a:ext cx="6217920" cy="402336"/>
          </a:xfrm>
          <a:prstGeom prst="roundRect">
            <a:avLst>
              <a:gd name="adj" fmla="val 15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8" y="4585548"/>
            <a:ext cx="14630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44805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44805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0.60초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4805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0.69초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3232" y="4937760"/>
            <a:ext cx="621792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" y="5042748"/>
            <a:ext cx="14630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49377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49377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3.12초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0" y="49377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5.04초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" y="5394960"/>
            <a:ext cx="621792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8" y="53949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48840" y="53949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80" y="53949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9.20초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0" y="539496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10.25초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585216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p50 = 절반이 이 시간 안에 끝남 · p95 = 가장 느린 5% 를 뺀 최대 · 서버 1대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96912" y="3611880"/>
            <a:ext cx="4361688" cy="2487168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180576" y="21031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copylane.site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80576" y="25146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3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서비스 도메인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80576" y="2834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서버 판 main 6c721ae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에디션 demo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98079" y="3703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서비스 테스트 — 10-22 · API 84항목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498079" y="41148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2D8A68"/>
                </a:solidFill>
                <a:latin typeface="Noto Sans"/>
                <a:ea typeface="Noto Sans"/>
                <a:cs typeface="Noto Sans"/>
              </a:rPr>
              <a:t>80</a:t>
            </a:r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/ 84 통과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498079" y="470916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●  서비스 기능 장애 0 · 실패 2 는 시험 조건 문제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●  보안 점검 13 / 14 — HSTS · 쿠키 Secure · 포트 차단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●  시험 중 /dev 외부 노출 발견 → 바로 닫음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●  남은 위험 — 요청 횟수 제한 아직 없음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10571584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협업 · 운영 — 「그렇게 하기로 했다」가 아니라 코드로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다섯 명이 각자 브랜치에서 일해도 결과가 갈라지지 않게, 결정 · 수치 · 모델 판을 한 곳에 묶었습니다.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docs/00_설계결정기록.md · docs/00_사실원장.md · models.lock.json · 원장 10-22(A) ① · .github/workflows (gate.yml · secrets.yml)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21214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833AB4"/>
                </a:solidFill>
                <a:latin typeface="Noto Sans"/>
                <a:ea typeface="Noto Sans"/>
                <a:cs typeface="Noto Sans"/>
              </a:rPr>
              <a:t>350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2624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설계 결정 기록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907792"/>
            <a:ext cx="2286000" cy="94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D-01 ~ D-350 · 빠진 번호 0</a:t>
            </a:r>
          </a:p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결정의 단일 원장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6704" y="192024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29584" y="21214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3,429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9584" y="2624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자동 테스트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2907792"/>
            <a:ext cx="2286000" cy="94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그중 게이트 2,295</a:t>
            </a:r>
          </a:p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전부 통과 · 실패 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3056" y="192024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5936" y="21214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2624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모델 잠금 파일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2907792"/>
            <a:ext cx="2286000" cy="94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models.lock.json — 파일별 지문</a:t>
            </a:r>
          </a:p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잠금 밖 판은 앱이 안 올림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9408" y="1920240"/>
            <a:ext cx="26517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62288" y="21214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30" b="1">
                <a:solidFill>
                  <a:srgbClr val="F56040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2624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9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사실 원장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2907792"/>
            <a:ext cx="2286000" cy="94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모든 수치의 출처 하나</a:t>
            </a:r>
          </a:p>
          <a:p>
            <a:pPr algn="l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날짜 · 기기 · 판을 함께 기록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" y="40690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4206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관리자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617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대시보드 · 검수 통계 · 생성 통계(카피 생성 · AI 광고)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데이터 소스 · 등급 판정(2인 확인 서명)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54406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관리자 이메일 로그인 · 시도 제한 (D-350)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4069080"/>
            <a:ext cx="5458968" cy="201168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46520" y="4206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협업 규칙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5902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5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개인 브랜치 → 팀장이 main 병합 · 직접 push 금지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495604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●  </a:t>
            </a:r>
            <a:r>
              <a:rPr sz="125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pre-commit — ruff · gitleaks(비밀값) 검사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5321807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25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launcher.py — 같은 명령으로 환경 · 데이터 · 검사 (다음 장)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68756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 xml:space="preserve">●  </a:t>
            </a:r>
            <a:r>
              <a:rPr sz="125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GitHub Actions — 게이트 시험 · 비밀값 검사(주 1회 + PR)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런처 — 다섯 명이 같은 환경에서, 같은 명령으로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「내 PC 에선 되는데」를 없애려고 런처를 만들었습니다. 새 팀원은 다섯 줄이면 같은 환경 · 같은 데이터 · 같은 검사에 닿습니다.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launcher.py MENU (명령 54) · setup.bat · setup.ps1 · scripts/doctor.py · D-51 · D-99 · D-220 · D-247 · D-254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10512"/>
            <a:ext cx="11128248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laun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66520"/>
            <a:ext cx="10945368" cy="40953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Google Drive 공유 — git 은 「무엇」을, Drive 는 「바이트」를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데이터와 모델은 git 에 넣기엔 크고 민감합니다. git 에는 지문 원장만 두고, 실제 파일은 Google Drive 공유 폴더에서 지문으로 맞춰 받습니다.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scripts/data_store.py (plan · sync · publish · ensure) · app/model_lock.py · data/derived_manifest.jsonl · models.lock.json · D-17 · D-71 · D-247 · D-249 · D-333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30352" y="1810512"/>
            <a:ext cx="11128248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44" y="1920240"/>
            <a:ext cx="9554263" cy="41879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Q&amp;A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447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Q&amp;A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me questions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869680" y="59436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EBC5EB">
                  <a:alpha val="82000"/>
                </a:srgbClr>
              </a:gs>
              <a:gs pos="100000">
                <a:srgbClr val="F9C7D8">
                  <a:alpha val="82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64040" y="868680"/>
            <a:ext cx="525780" cy="2971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332720" y="4315968"/>
            <a:ext cx="1325880" cy="1325880"/>
          </a:xfrm>
          <a:prstGeom prst="ellipse">
            <a:avLst/>
          </a:prstGeom>
          <a:gradFill rotWithShape="1">
            <a:gsLst>
              <a:gs pos="0">
                <a:srgbClr val="F49BBB">
                  <a:alpha val="85000"/>
                </a:srgbClr>
              </a:gs>
              <a:gs pos="100000">
                <a:srgbClr val="F9AE97">
                  <a:alpha val="85000"/>
                </a:srgbClr>
              </a:gs>
            </a:gsLst>
            <a:lin ang="2700000" scaled="0"/>
          </a:gradFill>
          <a:ln w="12700">
            <a:solidFill>
              <a:srgbClr val="F2A4D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677449" y="4475074"/>
            <a:ext cx="304952" cy="17236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138160" y="5413248"/>
            <a:ext cx="420624" cy="420624"/>
          </a:xfrm>
          <a:prstGeom prst="ellipse">
            <a:avLst/>
          </a:prstGeom>
          <a:gradFill rotWithShape="1">
            <a:gsLst>
              <a:gs pos="0">
                <a:srgbClr val="CF8FD6">
                  <a:alpha val="92000"/>
                </a:srgbClr>
              </a:gs>
              <a:gs pos="100000">
                <a:srgbClr val="F296B4">
                  <a:alpha val="92000"/>
                </a:srgbClr>
              </a:gs>
            </a:gsLst>
            <a:lin ang="2700000" scaled="0"/>
          </a:gradFill>
          <a:ln w="12700">
            <a:solidFill>
              <a:srgbClr val="AF96FF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47522" y="5463723"/>
            <a:ext cx="96744" cy="54681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690689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FE3E8"/>
            </a:solidFill>
            <a:prstDash val="solid"/>
          </a:ln>
          <a:effectLst>
            <a:outerShdw algn="bl" rotWithShape="0">
              <a:srgbClr val="C9B8C1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8508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핵심 메시지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64792" y="4665400"/>
            <a:ext cx="5513086" cy="56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 은 「잘 말하는 AI」보다 「근거 없이 확정하지 않는 구조」를 먼저 만들었습니다.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ABAE829-7562-15F7-9FAE-C98691D5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777240"/>
            <a:ext cx="3840480" cy="3840480"/>
          </a:xfrm>
          <a:prstGeom prst="ellipse">
            <a:avLst/>
          </a:prstGeom>
          <a:gradFill rotWithShape="1">
            <a:gsLst>
              <a:gs pos="0">
                <a:srgbClr val="833AB4">
                  <a:alpha val="82000"/>
                </a:srgbClr>
              </a:gs>
              <a:gs pos="100000">
                <a:srgbClr val="E1306C">
                  <a:alpha val="82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20226" y="-162763"/>
            <a:ext cx="844906" cy="49926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55480" y="3977640"/>
            <a:ext cx="2743200" cy="2743200"/>
          </a:xfrm>
          <a:prstGeom prst="ellipse">
            <a:avLst/>
          </a:prstGeom>
          <a:gradFill rotWithShape="1">
            <a:gsLst>
              <a:gs pos="0">
                <a:srgbClr val="E1306C">
                  <a:alpha val="78000"/>
                </a:srgbClr>
              </a:gs>
              <a:gs pos="100000">
                <a:srgbClr val="F56040">
                  <a:alpha val="78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158984" y="4416552"/>
            <a:ext cx="603504" cy="35661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80960" y="5349240"/>
            <a:ext cx="749808" cy="749808"/>
          </a:xfrm>
          <a:prstGeom prst="ellipse">
            <a:avLst/>
          </a:prstGeom>
          <a:gradFill rotWithShape="1">
            <a:gsLst>
              <a:gs pos="0">
                <a:srgbClr val="B86BCB">
                  <a:alpha val="82000"/>
                </a:srgbClr>
              </a:gs>
              <a:gs pos="100000">
                <a:srgbClr val="EC6F98">
                  <a:alpha val="82000"/>
                </a:srgbClr>
              </a:gs>
            </a:gsLst>
            <a:lin ang="2700000" scaled="0"/>
          </a:gradFill>
          <a:ln w="7620">
            <a:solidFill>
              <a:srgbClr val="FFFFFF">
                <a:alpha val="30000"/>
              </a:srgbClr>
            </a:solidFill>
            <a:prstDash val="solid"/>
          </a:ln>
          <a:effectLst>
            <a:outerShdw blurRad="27940" dist="50800" dir="2700000" algn="bl" rotWithShape="0">
              <a:srgbClr val="6D5A7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45918" y="5469209"/>
            <a:ext cx="164958" cy="97475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94944" y="11887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03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FC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오한빈 · 권소라 · 이서은 · 소성민 · 박수진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CFC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발표자  </a:t>
            </a:r>
            <a:r>
              <a:rPr lang="ko-KR" altLang="en-US" sz="1250">
                <a:solidFill>
                  <a:srgbClr val="CFC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오한빈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510235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A8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“광고 한 줄, 출시 전에 묻겠습니다.”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9A1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 FINAL PROJECT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341FB21-CEC9-B66C-7A1B-3DA801656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1FB7BF8-F3C0-6C19-8138-CA115F2ADB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6800" y="1718334"/>
            <a:ext cx="4146264" cy="20731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30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996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D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부록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판정 기록 · 카피 생성 프롬프트 · 트러블슈팅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2468880" cy="0"/>
          </a:xfrm>
          <a:prstGeom prst="line">
            <a:avLst/>
          </a:prstGeom>
          <a:noFill/>
          <a:ln w="2540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823960" y="566928"/>
            <a:ext cx="2331720" cy="2331720"/>
          </a:xfrm>
          <a:prstGeom prst="ellipse">
            <a:avLst/>
          </a:prstGeom>
          <a:gradFill rotWithShape="1">
            <a:gsLst>
              <a:gs pos="0">
                <a:srgbClr val="EBC5EB">
                  <a:alpha val="80000"/>
                </a:srgbClr>
              </a:gs>
              <a:gs pos="100000">
                <a:srgbClr val="F9C7D8">
                  <a:alpha val="80000"/>
                </a:srgbClr>
              </a:gs>
            </a:gsLst>
            <a:lin ang="2700000" scaled="0"/>
          </a:gradFill>
          <a:ln w="12700">
            <a:solidFill>
              <a:srgbClr val="F8C3D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846734"/>
            <a:ext cx="536296" cy="303124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13848" y="1901952"/>
            <a:ext cx="1051560" cy="1051560"/>
          </a:xfrm>
          <a:prstGeom prst="ellipse">
            <a:avLst/>
          </a:prstGeom>
          <a:gradFill rotWithShape="1">
            <a:gsLst>
              <a:gs pos="0">
                <a:srgbClr val="F59EBE">
                  <a:alpha val="84000"/>
                </a:srgbClr>
              </a:gs>
              <a:gs pos="100000">
                <a:srgbClr val="FAB29C">
                  <a:alpha val="84000"/>
                </a:srgbClr>
              </a:gs>
            </a:gsLst>
            <a:lin ang="2700000" scaled="0"/>
          </a:gradFill>
          <a:ln w="12700">
            <a:solidFill>
              <a:srgbClr val="F59BB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87254" y="2028139"/>
            <a:ext cx="241859" cy="136703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89720" y="5056632"/>
            <a:ext cx="502920" cy="502920"/>
          </a:xfrm>
          <a:prstGeom prst="ellipse">
            <a:avLst/>
          </a:prstGeom>
          <a:gradFill rotWithShape="1">
            <a:gsLst>
              <a:gs pos="0">
                <a:srgbClr val="D59BD9">
                  <a:alpha val="90000"/>
                </a:srgbClr>
              </a:gs>
              <a:gs pos="100000">
                <a:srgbClr val="F49DB9">
                  <a:alpha val="90000"/>
                </a:srgbClr>
              </a:gs>
            </a:gsLst>
            <a:lin ang="2700000" scaled="0"/>
          </a:gradFill>
          <a:ln w="12700">
            <a:solidFill>
              <a:srgbClr val="EC8FB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CDB6C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20479" y="5116982"/>
            <a:ext cx="115672" cy="6538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5623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CopyLane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691640" y="5623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8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광고 문구 준법 검수 · 생성 플랫폼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8C8F88-108F-B264-ED1D-DAB2E9EC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52239" y="-258132"/>
            <a:ext cx="1865305" cy="1320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한 문장이 판정되기까지 — 노드별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시연 문구를 실제 판정 코어에 넣은 결과입니다. 노드마다 무엇을 찾았고 무엇을 정했는지 그대로 옮겼습니다.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POST /judge 실행 기록 2026-10-22 (품목 식품 · rule-0.3.0-dict+encb:c451942436f0 · 노드별 timings 합 384ms · 이 PC)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65960"/>
            <a:ext cx="11128248" cy="73152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397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19659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입력 문장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196596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고혈압 예방</a:t>
            </a:r>
            <a:r>
              <a:rPr sz="19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에 효과적인 문경 오미자청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219456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3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품목 · 식품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285292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0352" y="2852928"/>
            <a:ext cx="82296" cy="475488"/>
          </a:xfrm>
          <a:prstGeom prst="rect">
            <a:avLst/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285292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split · classify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285292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문장 1개 · 식품 → 표시광고법 + 식품표시광고법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85292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0.01ms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340156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3401568"/>
            <a:ext cx="82296" cy="475488"/>
          </a:xfrm>
          <a:prstGeom prst="rect">
            <a:avLst/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340156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retrieve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40156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벡터 + 어휘 RRF → 조문 후보 10개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40156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245ms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" y="395020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30352" y="3950208"/>
            <a:ext cx="82296" cy="47548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395020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match_dict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395020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금지 표현 사전 적중 「고혈압 예방」 (0~6자)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95020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101ms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" y="449884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30352" y="4498848"/>
            <a:ext cx="82296" cy="475488"/>
          </a:xfrm>
          <a:prstGeom prst="rect">
            <a:avLst/>
          </a:prstGeom>
          <a:solidFill>
            <a:srgbClr val="DD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9808" y="449884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encode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040" y="449884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 후보 질병_예방치료_표방 · 확신 0.91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449884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31ms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04748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30352" y="5047488"/>
            <a:ext cx="82296" cy="47548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9808" y="504748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법별 판정 → judge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6040" y="504748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두 법 결과 합침 → 확정 위반 · 질병 예방·치료 표방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504748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0.3ms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0352" y="5596128"/>
            <a:ext cx="7086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30352" y="5596128"/>
            <a:ext cx="82296" cy="47548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49808" y="559612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assess_risk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06040" y="559612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서명된 제재표에서 하한 R2 → 최종 R2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5596128"/>
            <a:ext cx="822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1.8ms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99831" y="2852928"/>
            <a:ext cx="3858768" cy="324612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28431" y="29718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결과 — 증명서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8431" y="33101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8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확정 위반 · R2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8431" y="385876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근거 조문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식품표시광고법 제8조제1항제1호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질병의 예방 · 치료에 효능이 있는 것으로 인식할 우려가 있는 표시 또는 광고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8431" y="4956048"/>
            <a:ext cx="3474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불가 사유 C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8D6"/>
                </a:solidFill>
                <a:latin typeface="Noto Sans"/>
                <a:ea typeface="Noto Sans"/>
                <a:cs typeface="Noto Sans"/>
              </a:rPr>
              <a:t>법이 정한 예외가 아니면 근거 자료가 있어도 쓸 수 없는 표현 — 바꿔도 같은 뜻이면 같은 위반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966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부록 · 카피 생성 프롬프트 — 지어내지 못하게, 다양하게 쓰게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모델을 바꾸기 전에 프롬프트를 먼저 다듬었습니다. 사실의 범위를 못 박고, 분기마다 허용 범위를 예시로 보여 줍니다.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app/routers/copygen/llm.py SYSTEM · user_prompt (10-12 시험판 그대로) · docs/ksr 프롬프트 · 모델별 결과 2026-10-03 · 분기별 결과표 2026-10-12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20240"/>
            <a:ext cx="5532120" cy="4160520"/>
          </a:xfrm>
          <a:prstGeom prst="roundRect">
            <a:avLst>
              <a:gd name="adj" fmla="val 6000"/>
            </a:avLst>
          </a:prstGeom>
          <a:solidFill>
            <a:srgbClr val="201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>
                <a:solidFill>
                  <a:srgbClr val="F59BB9"/>
                </a:solidFill>
                <a:latin typeface="Noto Sans"/>
                <a:ea typeface="Noto Sans"/>
                <a:cs typeface="Noto Sans"/>
              </a:rPr>
              <a:t>SYSTEM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2395728"/>
            <a:ext cx="51206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3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너는 한국어 광고 카피라이터다.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1. 제품 정보에 적힌 것만 사실로 쓴다.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   적히지 않은 수치 · 성분 · 인증 · 시험 · 수상을 지어내지 않는다.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2. 「쓸 수 있는 것」 안에서 다양하게 쓴다.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   말투 · 길이 · 문장 끝을 서로 다르게 한다.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3. 최고 · 유일 · 1위 · 타사 대비를 쓰지 않는다.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4. 한 문장, 15~40자 안팎.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5. JSON 만 출력한다:</a:t>
            </a:r>
          </a:p>
          <a:p>
            <a:pPr algn="l">
              <a:lnSpc>
                <a:spcPct val="112000"/>
              </a:lnSpc>
            </a:pPr>
            <a:r>
              <a:rPr sz="1330" b="0">
                <a:solidFill>
                  <a:srgbClr val="E3D5DC"/>
                </a:solidFill>
                <a:latin typeface="Noto Sans"/>
                <a:ea typeface="Noto Sans"/>
                <a:cs typeface="Noto Sans"/>
              </a:rPr>
              <a:t>   {"candidates": [{"angle": …, "text": …}]}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9202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USER PROMPT — 블록을 쌓아 만든다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2860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9088" y="22860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[분기]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2860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화장품 · 인증 아니오 (일반)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2816352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2816352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[제품 정보 — 사실의 전부]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8163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이용자가 적은 이름 · 종류 · 특징 · 원료 · 대상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346704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3346704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[쓸 수 있는 것]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34670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사용감 · 쓰는 장면 · 성분 이름(효능 없이)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877056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19088" y="3877056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[지킬 것]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7705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의약품처럼 말하지 않는다 (치료 · 재생 …)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407408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19088" y="4407408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[좋은 예 · 나쁜 예]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4074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다른 제품 예 — 범위만 참고, 틀은 따라 쓰지 않게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493776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7FA"/>
          </a:solidFill>
          <a:ln w="10160">
            <a:solidFill>
              <a:srgbClr val="E1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19088" y="49377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C13584"/>
                </a:solidFill>
                <a:latin typeface="Noto Sans"/>
                <a:ea typeface="Noto Sans"/>
                <a:cs typeface="Noto Sans"/>
              </a:rPr>
              <a:t>[고정 문구]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9377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{{고정문구}} 자리만 두게 — 인정 문구는 코드가 끼운다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468112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19088" y="5468112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[이미 뽑힌 문구 · 걸린 이유]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546811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다음 라운드 — 겹치지 않게 · 같은 실수 피하게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0387"/>
            <a:ext cx="99669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부록 · 트러블슈팅 — 부딪힌 벽과 넘은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9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만들면서 가장 크게 막혔던 여섯 가지와, 그것을 구조로 푼 방법입니다.</a:t>
            </a:r>
          </a:p>
        </p:txBody>
      </p:sp>
      <p:pic>
        <p:nvPicPr>
          <p:cNvPr id="5" name="Picture 4" descr="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-256032"/>
            <a:ext cx="1865376" cy="1316736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87BA8E8F-D11C-CA75-9F56-489415B763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19AAE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" y="6345936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9E97A8"/>
                </a:solidFill>
                <a:latin typeface="Noto Sans"/>
                <a:ea typeface="Noto Sans"/>
                <a:cs typeface="Noto Sans"/>
              </a:rPr>
              <a:t>Source: 설계결정기록 D-319 · D-323 · D-348 보충 31~37 · 판정요청 · 판독 기록(docs/ohb) · docs/lse 멘토링 결과서 · copygen llm.py · D-175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938528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3232" y="21031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10312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1" y="20665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실제 심사는 문구 밖도 본다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2532888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제품 유형 · 인증 · 실증 자료를 종합해 판단 — 문구만으로는 결론이 안 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3127248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" y="312724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품목 분기 + 사실 확인 질문 → 모르는 건 묻고 답으로 재판정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88536" y="1938528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71416" y="21031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71416" y="210312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20665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문구만으로 판단할 정답이 없다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1416" y="2532888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법령 · 고시 기준의 「문구 → 위반 유형」 라벨이 세상에 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71416" y="3127248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1144" y="312724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판정 요청 · 판독 · 2인 확인으로 골든셋 8,383행을 직접 라벨링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938528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229600" y="21031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210312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20665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인코더 확신만으로는 근거가 없다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532888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확신 0.9여도 어느 법 · 어느 호인지 말하지 못함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3127248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39328" y="312724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확정은 사전 · 규칙 · 근거로, 인코더는 후보로 — 유형은 제재표 · 낱말표로 호까지 연결 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" y="4059935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13232" y="42245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2" y="4224527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99031" y="4187951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GPT가 쓴 정답이 틀렸다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465429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sLLM 1차 확장에서 오히려 성능 하락 · 위반 포장 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3232" y="5248655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59" y="5248655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정답은 공개 원천에서 규칙으로, GPT는 위반 쪽만 — 위반 포장 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88536" y="4059935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471416" y="42245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71416" y="4224527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57216" y="4187951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GPT가 인정 문구를 바꿔 쓴다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465429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기능성 인정 · 심사 문구를 모델이 고쳐 쓰면 그 자체가 위반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71416" y="5248655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81144" y="5248655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{{고정문구}} 자리만 두게 하고 코드가 원문 그대로 끼움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0" y="4059935"/>
            <a:ext cx="3611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229600" y="42245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D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29600" y="4224527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15400" y="4187951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평가 문장이 학습에 섞였다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65429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F6878"/>
                </a:solidFill>
                <a:latin typeface="Noto Sans"/>
                <a:ea typeface="Noto Sans"/>
                <a:cs typeface="Noto Sans"/>
              </a:rPr>
              <a:t>학습 데이터에 평가 문장 일부가 들어가 점수가 부풀 위험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9600" y="5248655"/>
            <a:ext cx="3246120" cy="685800"/>
          </a:xfrm>
          <a:prstGeom prst="roundRect">
            <a:avLst>
              <a:gd name="adj" fmla="val 10000"/>
            </a:avLst>
          </a:prstGeom>
          <a:solidFill>
            <a:srgbClr val="F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39328" y="5248655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1306C"/>
                </a:solidFill>
                <a:latin typeface="Noto Sans"/>
                <a:ea typeface="Noto Sans"/>
                <a:cs typeface="Noto Sans"/>
              </a:rPr>
              <a:t>→ </a:t>
            </a:r>
            <a:r>
              <a:rPr sz="1250" b="1">
                <a:solidFill>
                  <a:srgbClr val="201D29"/>
                </a:solidFill>
                <a:latin typeface="Noto Sans"/>
                <a:ea typeface="Noto Sans"/>
                <a:cs typeface="Noto Sans"/>
              </a:rPr>
              <a:t>평가셋 봉인 · 겹침 자동 제외 · 봉인 회차는 날짜 하나에 한 번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15E55D0AA613C4AA4714725710A31EE" ma:contentTypeVersion="5" ma:contentTypeDescription="새 문서를 만듭니다." ma:contentTypeScope="" ma:versionID="d52c06eaefac919d4cc6d08bc9cab305">
  <xsd:schema xmlns:xsd="http://www.w3.org/2001/XMLSchema" xmlns:xs="http://www.w3.org/2001/XMLSchema" xmlns:p="http://schemas.microsoft.com/office/2006/metadata/properties" xmlns:ns3="9f9e6903-5f28-41ee-a646-5d9fc16a09ac" targetNamespace="http://schemas.microsoft.com/office/2006/metadata/properties" ma:root="true" ma:fieldsID="5c2f62af1557b968af98769e69761533" ns3:_="">
    <xsd:import namespace="9f9e6903-5f28-41ee-a646-5d9fc16a09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e6903-5f28-41ee-a646-5d9fc16a09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9e6903-5f28-41ee-a646-5d9fc16a09ac" xsi:nil="true"/>
  </documentManagement>
</p:properties>
</file>

<file path=customXml/itemProps1.xml><?xml version="1.0" encoding="utf-8"?>
<ds:datastoreItem xmlns:ds="http://schemas.openxmlformats.org/officeDocument/2006/customXml" ds:itemID="{6DA5494B-DA1B-40DD-8520-9163FB1F9E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703FD0-3D51-45C5-A311-F5DDCD271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9e6903-5f28-41ee-a646-5d9fc16a09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D0636-B3FB-4920-89E2-AA7A60BB5A94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9f9e6903-5f28-41ee-a646-5d9fc16a09ac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7925</Words>
  <Application>Microsoft Office PowerPoint</Application>
  <PresentationFormat>와이드스크린</PresentationFormat>
  <Paragraphs>1018</Paragraphs>
  <Slides>51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Noto Sans CJK KR</vt:lpstr>
      <vt:lpstr>맑은 고딕</vt:lpstr>
      <vt:lpstr>Arial</vt:lpstr>
      <vt:lpstr>Noto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SKN32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CopyLane 중간발표 v3</dc:title>
  <dc:subject>CopyLane 중간발표</dc:subject>
  <dc:creator>OpenAI</dc:creator>
  <cp:lastModifiedBy>소라 권</cp:lastModifiedBy>
  <cp:revision>13</cp:revision>
  <dcterms:created xsi:type="dcterms:W3CDTF">2026-09-11T01:29:14Z</dcterms:created>
  <dcterms:modified xsi:type="dcterms:W3CDTF">2026-10-22T11:59:26Z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0x010100215E55D0AA613C4AA4714725710A31EE</vt:lpwstr>
  </property>
</Properties>
</file>